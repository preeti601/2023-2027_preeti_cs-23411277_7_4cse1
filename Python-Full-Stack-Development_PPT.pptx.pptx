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Raleway" charset="1" panose="00000000000000000000"/>
      <p:regular r:id="rId24"/>
    </p:embeddedFont>
    <p:embeddedFont>
      <p:font typeface="Roboto" charset="1" panose="02000000000000000000"/>
      <p:regular r:id="rId25"/>
    </p:embeddedFont>
    <p:embeddedFont>
      <p:font typeface="Roboto Bold" charset="1" panose="02000000000000000000"/>
      <p:regular r:id="rId26"/>
    </p:embeddedFont>
    <p:embeddedFont>
      <p:font typeface="Raleway Light" charset="1" panose="000000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notesSlides/notesSlide2.xml" Type="http://schemas.openxmlformats.org/officeDocument/2006/relationships/notesSlide"/><Relationship Id="rId28" Target="fonts/font28.fntdata" Type="http://schemas.openxmlformats.org/officeDocument/2006/relationships/font"/><Relationship Id="rId29" Target="notesSlides/notesSlide3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4.xml" Type="http://schemas.openxmlformats.org/officeDocument/2006/relationships/notesSlide"/><Relationship Id="rId31" Target="notesSlides/notesSlide5.xml" Type="http://schemas.openxmlformats.org/officeDocument/2006/relationships/notesSlide"/><Relationship Id="rId32" Target="notesSlides/notesSlide6.xml" Type="http://schemas.openxmlformats.org/officeDocument/2006/relationships/notesSlide"/><Relationship Id="rId33" Target="notesSlides/notesSlide7.xml" Type="http://schemas.openxmlformats.org/officeDocument/2006/relationships/notesSlide"/><Relationship Id="rId34" Target="notesSlides/notesSlide8.xml" Type="http://schemas.openxmlformats.org/officeDocument/2006/relationships/notesSlide"/><Relationship Id="rId35" Target="notesSlides/notesSlide9.xml" Type="http://schemas.openxmlformats.org/officeDocument/2006/relationships/notesSlide"/><Relationship Id="rId36" Target="notesSlides/notesSlide10.xml" Type="http://schemas.openxmlformats.org/officeDocument/2006/relationships/notesSlide"/><Relationship Id="rId37" Target="notesSlides/notesSlide11.xml" Type="http://schemas.openxmlformats.org/officeDocument/2006/relationships/notesSlide"/><Relationship Id="rId38" Target="notesSlides/notesSlide12.xml" Type="http://schemas.openxmlformats.org/officeDocument/2006/relationships/notesSlide"/><Relationship Id="rId39" Target="notesSlides/notesSlide13.xml" Type="http://schemas.openxmlformats.org/officeDocument/2006/relationships/notesSlide"/><Relationship Id="rId4" Target="theme/theme1.xml" Type="http://schemas.openxmlformats.org/officeDocument/2006/relationships/theme"/><Relationship Id="rId40" Target="notesSlides/notesSlide14.xml" Type="http://schemas.openxmlformats.org/officeDocument/2006/relationships/notesSlide"/><Relationship Id="rId41" Target="notesSlides/notesSlide15.xml" Type="http://schemas.openxmlformats.org/officeDocument/2006/relationships/notesSlid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https://gamma.app/?utm_source=made-with-gamma" TargetMode="External" Type="http://schemas.openxmlformats.org/officeDocument/2006/relationships/hyperlink"/><Relationship Id="rId4" Target="../media/image1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3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3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.svg" Type="http://schemas.openxmlformats.org/officeDocument/2006/relationships/image"/><Relationship Id="rId11" Target="../media/image19.png" Type="http://schemas.openxmlformats.org/officeDocument/2006/relationships/image"/><Relationship Id="rId12" Target="../media/image20.svg" Type="http://schemas.openxmlformats.org/officeDocument/2006/relationships/image"/><Relationship Id="rId13" Target="../media/image21.png" Type="http://schemas.openxmlformats.org/officeDocument/2006/relationships/image"/><Relationship Id="rId14" Target="../media/image22.svg" Type="http://schemas.openxmlformats.org/officeDocument/2006/relationships/image"/><Relationship Id="rId15" Target="../media/image23.png" Type="http://schemas.openxmlformats.org/officeDocument/2006/relationships/image"/><Relationship Id="rId2" Target="../notesSlides/notesSlide8.xml" Type="http://schemas.openxmlformats.org/officeDocument/2006/relationships/notesSlid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Relationship Id="rId7" Target="../media/image15.png" Type="http://schemas.openxmlformats.org/officeDocument/2006/relationships/image"/><Relationship Id="rId8" Target="../media/image16.svg" Type="http://schemas.openxmlformats.org/officeDocument/2006/relationships/image"/><Relationship Id="rId9" Target="../media/image1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34.png" Type="http://schemas.openxmlformats.org/officeDocument/2006/relationships/image"/><Relationship Id="rId14" Target="../media/image35.svg" Type="http://schemas.openxmlformats.org/officeDocument/2006/relationships/image"/><Relationship Id="rId15" Target="../media/image36.png" Type="http://schemas.openxmlformats.org/officeDocument/2006/relationships/image"/><Relationship Id="rId2" Target="../notesSlides/notesSlide9.xml" Type="http://schemas.openxmlformats.org/officeDocument/2006/relationships/notesSlide"/><Relationship Id="rId3" Target="../media/image24.png" Type="http://schemas.openxmlformats.org/officeDocument/2006/relationships/image"/><Relationship Id="rId4" Target="../media/image25.svg" Type="http://schemas.openxmlformats.org/officeDocument/2006/relationships/image"/><Relationship Id="rId5" Target="../media/image26.png" Type="http://schemas.openxmlformats.org/officeDocument/2006/relationships/image"/><Relationship Id="rId6" Target="../media/image27.svg" Type="http://schemas.openxmlformats.org/officeDocument/2006/relationships/image"/><Relationship Id="rId7" Target="../media/image28.png" Type="http://schemas.openxmlformats.org/officeDocument/2006/relationships/image"/><Relationship Id="rId8" Target="../media/image29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37.png" Type="http://schemas.openxmlformats.org/officeDocument/2006/relationships/image"/><Relationship Id="rId4" Target="../media/image38.svg" Type="http://schemas.openxmlformats.org/officeDocument/2006/relationships/image"/><Relationship Id="rId5" Target="../media/image39.png" Type="http://schemas.openxmlformats.org/officeDocument/2006/relationships/image"/><Relationship Id="rId6" Target="../media/image40.svg" Type="http://schemas.openxmlformats.org/officeDocument/2006/relationships/image"/><Relationship Id="rId7" Target="../media/image4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9.svg" Type="http://schemas.openxmlformats.org/officeDocument/2006/relationships/image"/><Relationship Id="rId2" Target="../notesSlides/notesSlide11.xml" Type="http://schemas.openxmlformats.org/officeDocument/2006/relationships/notesSlid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46.png" Type="http://schemas.openxmlformats.org/officeDocument/2006/relationships/image"/><Relationship Id="rId8" Target="../media/image47.svg" Type="http://schemas.openxmlformats.org/officeDocument/2006/relationships/image"/><Relationship Id="rId9" Target="../media/image4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5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3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5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3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429714" y="0"/>
            <a:ext cx="6857829" cy="10287000"/>
            <a:chOff x="0" y="0"/>
            <a:chExt cx="9143771" cy="13716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14374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3746">
                  <a:moveTo>
                    <a:pt x="0" y="0"/>
                  </a:moveTo>
                  <a:lnTo>
                    <a:pt x="9143746" y="0"/>
                  </a:lnTo>
                  <a:lnTo>
                    <a:pt x="9143746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1E1EA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553682" y="736844"/>
            <a:ext cx="6609740" cy="8813302"/>
            <a:chOff x="0" y="0"/>
            <a:chExt cx="8812987" cy="11751069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8813038" cy="11751056"/>
            </a:xfrm>
            <a:custGeom>
              <a:avLst/>
              <a:gdLst/>
              <a:ahLst/>
              <a:cxnLst/>
              <a:rect r="r" b="b" t="t" l="l"/>
              <a:pathLst>
                <a:path h="11751056" w="8813038">
                  <a:moveTo>
                    <a:pt x="0" y="0"/>
                  </a:moveTo>
                  <a:lnTo>
                    <a:pt x="8813038" y="0"/>
                  </a:lnTo>
                  <a:lnTo>
                    <a:pt x="8813038" y="11751056"/>
                  </a:lnTo>
                  <a:lnTo>
                    <a:pt x="0" y="11751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2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92210" y="2667448"/>
            <a:ext cx="9445285" cy="803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84"/>
              </a:lnSpc>
            </a:pPr>
            <a:r>
              <a:rPr lang="en-US" sz="48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Python Full Stack Development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92210" y="3843185"/>
            <a:ext cx="4066775" cy="377133"/>
            <a:chOff x="0" y="0"/>
            <a:chExt cx="5422367" cy="5028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422392" cy="502793"/>
            </a:xfrm>
            <a:custGeom>
              <a:avLst/>
              <a:gdLst/>
              <a:ahLst/>
              <a:cxnLst/>
              <a:rect r="r" b="b" t="t" l="l"/>
              <a:pathLst>
                <a:path h="502793" w="5422392">
                  <a:moveTo>
                    <a:pt x="0" y="111125"/>
                  </a:moveTo>
                  <a:cubicBezTo>
                    <a:pt x="0" y="49784"/>
                    <a:pt x="49784" y="0"/>
                    <a:pt x="111125" y="0"/>
                  </a:cubicBezTo>
                  <a:lnTo>
                    <a:pt x="5311267" y="0"/>
                  </a:lnTo>
                  <a:cubicBezTo>
                    <a:pt x="5372608" y="0"/>
                    <a:pt x="5422392" y="49784"/>
                    <a:pt x="5422392" y="111125"/>
                  </a:cubicBezTo>
                  <a:lnTo>
                    <a:pt x="5422392" y="391668"/>
                  </a:lnTo>
                  <a:cubicBezTo>
                    <a:pt x="5422392" y="453009"/>
                    <a:pt x="5372608" y="502793"/>
                    <a:pt x="5311267" y="502793"/>
                  </a:cubicBezTo>
                  <a:lnTo>
                    <a:pt x="111125" y="502793"/>
                  </a:lnTo>
                  <a:cubicBezTo>
                    <a:pt x="49784" y="502793"/>
                    <a:pt x="0" y="453136"/>
                    <a:pt x="0" y="391668"/>
                  </a:cubicBezTo>
                  <a:close/>
                </a:path>
              </a:pathLst>
            </a:custGeom>
            <a:solidFill>
              <a:srgbClr val="E1E1EA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141038" y="3908079"/>
            <a:ext cx="4683500" cy="23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7"/>
              </a:lnSpc>
            </a:pPr>
            <a:r>
              <a:rPr lang="en-US" sz="15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AICTE – EDUSKILLS VIRTUAL INTERNSHIP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13626" y="4499372"/>
            <a:ext cx="4777264" cy="3091463"/>
            <a:chOff x="0" y="0"/>
            <a:chExt cx="6369685" cy="412195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369685" cy="4121912"/>
            </a:xfrm>
            <a:custGeom>
              <a:avLst/>
              <a:gdLst/>
              <a:ahLst/>
              <a:cxnLst/>
              <a:rect r="r" b="b" t="t" l="l"/>
              <a:pathLst>
                <a:path h="4121912" w="6369685">
                  <a:moveTo>
                    <a:pt x="0" y="238125"/>
                  </a:moveTo>
                  <a:cubicBezTo>
                    <a:pt x="0" y="106680"/>
                    <a:pt x="106680" y="0"/>
                    <a:pt x="238125" y="0"/>
                  </a:cubicBezTo>
                  <a:lnTo>
                    <a:pt x="6131560" y="0"/>
                  </a:lnTo>
                  <a:cubicBezTo>
                    <a:pt x="6263132" y="0"/>
                    <a:pt x="6369685" y="106680"/>
                    <a:pt x="6369685" y="238125"/>
                  </a:cubicBezTo>
                  <a:lnTo>
                    <a:pt x="6369685" y="3883787"/>
                  </a:lnTo>
                  <a:cubicBezTo>
                    <a:pt x="6369685" y="4015359"/>
                    <a:pt x="6263005" y="4121912"/>
                    <a:pt x="6131560" y="4121912"/>
                  </a:cubicBezTo>
                  <a:lnTo>
                    <a:pt x="238125" y="4121912"/>
                  </a:lnTo>
                  <a:cubicBezTo>
                    <a:pt x="106680" y="4121912"/>
                    <a:pt x="0" y="4015359"/>
                    <a:pt x="0" y="3883787"/>
                  </a:cubicBezTo>
                  <a:close/>
                </a:path>
              </a:pathLst>
            </a:custGeom>
            <a:solidFill>
              <a:srgbClr val="1E3A5F">
                <a:alpha val="90196"/>
              </a:srgbClr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061561" y="4728267"/>
            <a:ext cx="4281383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Presented By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61561" y="5297243"/>
            <a:ext cx="4281383" cy="2070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Khusbu Kumari</a:t>
            </a:r>
          </a:p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B.Tech Computer Science and Engineering</a:t>
            </a:r>
          </a:p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IILM University, Greater Noida, Uttar Pradesh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026944" y="4728267"/>
            <a:ext cx="4420086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Program Details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26944" y="5297243"/>
            <a:ext cx="4420086" cy="16734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Duration:</a:t>
            </a: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January 2026 – March 2026</a:t>
            </a:r>
          </a:p>
          <a:p>
            <a:pPr algn="l">
              <a:lnSpc>
                <a:spcPts val="3112"/>
              </a:lnSpc>
            </a:pPr>
            <a:r>
              <a:rPr lang="en-US" sz="195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Format:</a:t>
            </a: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Virtual Internship</a:t>
            </a:r>
          </a:p>
          <a:p>
            <a:pPr algn="l">
              <a:lnSpc>
                <a:spcPts val="3112"/>
              </a:lnSpc>
            </a:pPr>
            <a:r>
              <a:rPr lang="en-US" sz="195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Duration:</a:t>
            </a: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10 Weeks</a:t>
            </a:r>
          </a:p>
          <a:p>
            <a:pPr algn="l">
              <a:lnSpc>
                <a:spcPts val="3112"/>
              </a:lnSpc>
            </a:pPr>
            <a:r>
              <a:rPr lang="en-US" sz="195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Provider:</a:t>
            </a: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AICTE – EduSkills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674932"/>
            <a:ext cx="16303114" cy="755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09"/>
              </a:lnSpc>
            </a:pPr>
            <a:r>
              <a:rPr lang="en-US" sz="45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Contents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1799625"/>
            <a:ext cx="16303114" cy="787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 structured 10-week curriculum spanning the complete Python full stack development lifecycle — from frontend interfaces to backend logic, databases, and version control.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92210" y="3077766"/>
            <a:ext cx="465077" cy="290665"/>
            <a:chOff x="0" y="0"/>
            <a:chExt cx="620103" cy="38755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01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92210" y="3444326"/>
            <a:ext cx="7867898" cy="28575"/>
            <a:chOff x="0" y="0"/>
            <a:chExt cx="10490530" cy="381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992210" y="3598659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Introduction &amp; Internship Overview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92210" y="4373461"/>
            <a:ext cx="465077" cy="290665"/>
            <a:chOff x="0" y="0"/>
            <a:chExt cx="620103" cy="38755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02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92210" y="4740031"/>
            <a:ext cx="7867898" cy="28575"/>
            <a:chOff x="0" y="0"/>
            <a:chExt cx="10490530" cy="381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992210" y="4894364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Internship Objectives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92210" y="5669166"/>
            <a:ext cx="465077" cy="290665"/>
            <a:chOff x="0" y="0"/>
            <a:chExt cx="620103" cy="38755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03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92210" y="6035726"/>
            <a:ext cx="7867898" cy="28575"/>
            <a:chOff x="0" y="0"/>
            <a:chExt cx="1049053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992210" y="6190059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Full Stack Development Architecture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92210" y="6964861"/>
            <a:ext cx="465077" cy="290665"/>
            <a:chOff x="0" y="0"/>
            <a:chExt cx="620103" cy="38755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04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992210" y="7331421"/>
            <a:ext cx="7867898" cy="28575"/>
            <a:chOff x="0" y="0"/>
            <a:chExt cx="10490530" cy="381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992210" y="7485755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Frontend Development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92210" y="8260556"/>
            <a:ext cx="465077" cy="290665"/>
            <a:chOff x="0" y="0"/>
            <a:chExt cx="620103" cy="387553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05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92210" y="8627116"/>
            <a:ext cx="7867898" cy="28575"/>
            <a:chOff x="0" y="0"/>
            <a:chExt cx="10490530" cy="381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992210" y="8781450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JavaScript &amp; jQuery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436960" y="3077766"/>
            <a:ext cx="465077" cy="290665"/>
            <a:chOff x="0" y="0"/>
            <a:chExt cx="620103" cy="38755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06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436960" y="3444326"/>
            <a:ext cx="7867898" cy="28575"/>
            <a:chOff x="0" y="0"/>
            <a:chExt cx="10490530" cy="381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43" id="43"/>
          <p:cNvSpPr txBox="true"/>
          <p:nvPr/>
        </p:nvSpPr>
        <p:spPr>
          <a:xfrm rot="0">
            <a:off x="9436960" y="3598659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Python Programming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436960" y="4373461"/>
            <a:ext cx="465077" cy="290665"/>
            <a:chOff x="0" y="0"/>
            <a:chExt cx="620103" cy="38755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07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9436960" y="4740031"/>
            <a:ext cx="7867898" cy="28575"/>
            <a:chOff x="0" y="0"/>
            <a:chExt cx="10490530" cy="381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49" id="49"/>
          <p:cNvSpPr txBox="true"/>
          <p:nvPr/>
        </p:nvSpPr>
        <p:spPr>
          <a:xfrm rot="0">
            <a:off x="9436960" y="4894364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Django Web Development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9436960" y="5669166"/>
            <a:ext cx="465077" cy="290665"/>
            <a:chOff x="0" y="0"/>
            <a:chExt cx="620103" cy="387553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08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9436960" y="6035726"/>
            <a:ext cx="7867898" cy="28575"/>
            <a:chOff x="0" y="0"/>
            <a:chExt cx="10490530" cy="381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55" id="55"/>
          <p:cNvSpPr txBox="true"/>
          <p:nvPr/>
        </p:nvSpPr>
        <p:spPr>
          <a:xfrm rot="0">
            <a:off x="9436960" y="6190059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Database Management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9436960" y="6964861"/>
            <a:ext cx="465077" cy="290665"/>
            <a:chOff x="0" y="0"/>
            <a:chExt cx="620103" cy="387553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09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436960" y="7331421"/>
            <a:ext cx="7867898" cy="28575"/>
            <a:chOff x="0" y="0"/>
            <a:chExt cx="10490530" cy="381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61" id="61"/>
          <p:cNvSpPr txBox="true"/>
          <p:nvPr/>
        </p:nvSpPr>
        <p:spPr>
          <a:xfrm rot="0">
            <a:off x="9436960" y="7485755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Git &amp; Version Control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9436960" y="8260556"/>
            <a:ext cx="465077" cy="290665"/>
            <a:chOff x="0" y="0"/>
            <a:chExt cx="620103" cy="387553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620102" cy="387548"/>
            </a:xfrm>
            <a:custGeom>
              <a:avLst/>
              <a:gdLst/>
              <a:ahLst/>
              <a:cxnLst/>
              <a:rect r="r" b="b" t="t" l="l"/>
              <a:pathLst>
                <a:path h="387548" w="620102">
                  <a:moveTo>
                    <a:pt x="0" y="0"/>
                  </a:moveTo>
                  <a:lnTo>
                    <a:pt x="620102" y="0"/>
                  </a:lnTo>
                  <a:lnTo>
                    <a:pt x="620102" y="387548"/>
                  </a:lnTo>
                  <a:lnTo>
                    <a:pt x="0" y="3875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7" t="0" r="-30187" b="-1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9525"/>
              <a:ext cx="620103" cy="39707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3C3939"/>
                  </a:solidFill>
                  <a:latin typeface="Raleway Light"/>
                  <a:ea typeface="Raleway Light"/>
                  <a:cs typeface="Raleway Light"/>
                  <a:sym typeface="Raleway Light"/>
                </a:rPr>
                <a:t>10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9436960" y="8627116"/>
            <a:ext cx="7867898" cy="28575"/>
            <a:chOff x="0" y="0"/>
            <a:chExt cx="10490530" cy="381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10490581" cy="38100"/>
            </a:xfrm>
            <a:custGeom>
              <a:avLst/>
              <a:gdLst/>
              <a:ahLst/>
              <a:cxnLst/>
              <a:rect r="r" b="b" t="t" l="l"/>
              <a:pathLst>
                <a:path h="38100" w="10490581">
                  <a:moveTo>
                    <a:pt x="0" y="0"/>
                  </a:moveTo>
                  <a:lnTo>
                    <a:pt x="10490581" y="0"/>
                  </a:lnTo>
                  <a:lnTo>
                    <a:pt x="10490581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TextBox 67" id="67"/>
          <p:cNvSpPr txBox="true"/>
          <p:nvPr/>
        </p:nvSpPr>
        <p:spPr>
          <a:xfrm rot="0">
            <a:off x="9436960" y="8781450"/>
            <a:ext cx="7867898" cy="3823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22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Learning Journey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792213"/>
            <a:ext cx="16303114" cy="803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84"/>
              </a:lnSpc>
            </a:pPr>
            <a:r>
              <a:rPr lang="en-US" sz="48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Introduction &amp; Internship Overview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2006203"/>
            <a:ext cx="16303114" cy="879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 </a:t>
            </a:r>
            <a:r>
              <a:rPr lang="en-US" sz="195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10-week structured virtual internship</a:t>
            </a: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providing comprehensive learning and practical exposure in Python Full Stack Development, delivered by AICTE – EduSkills from January to March 2026.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87447" y="3160071"/>
            <a:ext cx="8037109" cy="1854841"/>
            <a:chOff x="0" y="0"/>
            <a:chExt cx="10716146" cy="24731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716260" cy="2473198"/>
            </a:xfrm>
            <a:custGeom>
              <a:avLst/>
              <a:gdLst/>
              <a:ahLst/>
              <a:cxnLst/>
              <a:rect r="r" b="b" t="t" l="l"/>
              <a:pathLst>
                <a:path h="2473198" w="10716260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10576560" y="0"/>
                  </a:lnTo>
                  <a:cubicBezTo>
                    <a:pt x="10653649" y="0"/>
                    <a:pt x="10716260" y="62484"/>
                    <a:pt x="10716260" y="139700"/>
                  </a:cubicBezTo>
                  <a:lnTo>
                    <a:pt x="10716260" y="2333498"/>
                  </a:lnTo>
                  <a:cubicBezTo>
                    <a:pt x="10716260" y="2410587"/>
                    <a:pt x="10653776" y="2473198"/>
                    <a:pt x="10576560" y="2473198"/>
                  </a:cubicBezTo>
                  <a:lnTo>
                    <a:pt x="139700" y="2473198"/>
                  </a:lnTo>
                  <a:cubicBezTo>
                    <a:pt x="62611" y="2473198"/>
                    <a:pt x="0" y="2410714"/>
                    <a:pt x="0" y="2333498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249680" y="3403254"/>
            <a:ext cx="7512653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Frontend Development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49680" y="3873103"/>
            <a:ext cx="7512653" cy="879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HTML, CSS, Bootstrap, JavaScript, jQuery — building responsive and interactive user interfaces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262977" y="3160071"/>
            <a:ext cx="8037109" cy="1854841"/>
            <a:chOff x="0" y="0"/>
            <a:chExt cx="10716146" cy="247312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716260" cy="2473198"/>
            </a:xfrm>
            <a:custGeom>
              <a:avLst/>
              <a:gdLst/>
              <a:ahLst/>
              <a:cxnLst/>
              <a:rect r="r" b="b" t="t" l="l"/>
              <a:pathLst>
                <a:path h="2473198" w="10716260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10576560" y="0"/>
                  </a:lnTo>
                  <a:cubicBezTo>
                    <a:pt x="10653649" y="0"/>
                    <a:pt x="10716260" y="62484"/>
                    <a:pt x="10716260" y="139700"/>
                  </a:cubicBezTo>
                  <a:lnTo>
                    <a:pt x="10716260" y="2333498"/>
                  </a:lnTo>
                  <a:cubicBezTo>
                    <a:pt x="10716260" y="2410587"/>
                    <a:pt x="10653776" y="2473198"/>
                    <a:pt x="10576560" y="2473198"/>
                  </a:cubicBezTo>
                  <a:lnTo>
                    <a:pt x="139700" y="2473198"/>
                  </a:lnTo>
                  <a:cubicBezTo>
                    <a:pt x="62611" y="2473198"/>
                    <a:pt x="0" y="2410714"/>
                    <a:pt x="0" y="2333498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9525210" y="3403254"/>
            <a:ext cx="7512653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Backend Development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525210" y="3873103"/>
            <a:ext cx="7512653" cy="879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Python and the Django framework — application logic, routing, authentication, and server-side processing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87447" y="5253333"/>
            <a:ext cx="8037109" cy="1854841"/>
            <a:chOff x="0" y="0"/>
            <a:chExt cx="10716146" cy="247312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716260" cy="2473198"/>
            </a:xfrm>
            <a:custGeom>
              <a:avLst/>
              <a:gdLst/>
              <a:ahLst/>
              <a:cxnLst/>
              <a:rect r="r" b="b" t="t" l="l"/>
              <a:pathLst>
                <a:path h="2473198" w="10716260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10576560" y="0"/>
                  </a:lnTo>
                  <a:cubicBezTo>
                    <a:pt x="10653649" y="0"/>
                    <a:pt x="10716260" y="62484"/>
                    <a:pt x="10716260" y="139700"/>
                  </a:cubicBezTo>
                  <a:lnTo>
                    <a:pt x="10716260" y="2333498"/>
                  </a:lnTo>
                  <a:cubicBezTo>
                    <a:pt x="10716260" y="2410587"/>
                    <a:pt x="10653776" y="2473198"/>
                    <a:pt x="10576560" y="2473198"/>
                  </a:cubicBezTo>
                  <a:lnTo>
                    <a:pt x="139700" y="2473198"/>
                  </a:lnTo>
                  <a:cubicBezTo>
                    <a:pt x="62611" y="2473198"/>
                    <a:pt x="0" y="2410714"/>
                    <a:pt x="0" y="2333498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49680" y="5496525"/>
            <a:ext cx="7512653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Database Management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49680" y="5966374"/>
            <a:ext cx="7512653" cy="879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SQL and MySQL — relational schema design, CRUD operations, and Django ORM integration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262977" y="5253333"/>
            <a:ext cx="8037109" cy="1854841"/>
            <a:chOff x="0" y="0"/>
            <a:chExt cx="10716146" cy="247312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716260" cy="2473198"/>
            </a:xfrm>
            <a:custGeom>
              <a:avLst/>
              <a:gdLst/>
              <a:ahLst/>
              <a:cxnLst/>
              <a:rect r="r" b="b" t="t" l="l"/>
              <a:pathLst>
                <a:path h="2473198" w="10716260">
                  <a:moveTo>
                    <a:pt x="0" y="139700"/>
                  </a:moveTo>
                  <a:cubicBezTo>
                    <a:pt x="0" y="62484"/>
                    <a:pt x="62484" y="0"/>
                    <a:pt x="139700" y="0"/>
                  </a:cubicBezTo>
                  <a:lnTo>
                    <a:pt x="10576560" y="0"/>
                  </a:lnTo>
                  <a:cubicBezTo>
                    <a:pt x="10653649" y="0"/>
                    <a:pt x="10716260" y="62484"/>
                    <a:pt x="10716260" y="139700"/>
                  </a:cubicBezTo>
                  <a:lnTo>
                    <a:pt x="10716260" y="2333498"/>
                  </a:lnTo>
                  <a:cubicBezTo>
                    <a:pt x="10716260" y="2410587"/>
                    <a:pt x="10653776" y="2473198"/>
                    <a:pt x="10576560" y="2473198"/>
                  </a:cubicBezTo>
                  <a:lnTo>
                    <a:pt x="139700" y="2473198"/>
                  </a:lnTo>
                  <a:cubicBezTo>
                    <a:pt x="62611" y="2473198"/>
                    <a:pt x="0" y="2410714"/>
                    <a:pt x="0" y="2333498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9525210" y="5496525"/>
            <a:ext cx="7512653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Version Control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525210" y="5966374"/>
            <a:ext cx="7512653" cy="879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Git and GitHub — source code management, branching, and collaborative development workflows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92210" y="7519987"/>
            <a:ext cx="7849000" cy="1276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Program Structure:</a:t>
            </a: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Week-wise learning modules with assessments, practical exercises, and project documentation requirements designed to build progressive competency.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455858" y="7519987"/>
            <a:ext cx="7849000" cy="17229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Duration:</a:t>
            </a: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January – March 2026  </a:t>
            </a:r>
          </a:p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95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Provider:</a:t>
            </a: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AICTE – EduSkills   </a:t>
            </a:r>
          </a:p>
          <a:p>
            <a:pPr algn="l">
              <a:lnSpc>
                <a:spcPts val="3112"/>
              </a:lnSpc>
            </a:pPr>
            <a:r>
              <a:rPr lang="en-US" sz="195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Format:</a:t>
            </a: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Virtual, 10 Weeks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910085"/>
            <a:ext cx="16303114" cy="660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0"/>
              </a:lnSpc>
            </a:pPr>
            <a:r>
              <a:rPr lang="en-US" sz="39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Internship Objectives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1854098"/>
            <a:ext cx="17217495" cy="357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Ten clearly defined learning outcomes spanning the full spectrum of modern web development — from UI design principles to production-ready backend systems.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87447" y="2589609"/>
            <a:ext cx="471773" cy="471783"/>
            <a:chOff x="0" y="0"/>
            <a:chExt cx="629031" cy="6290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069305" y="2632920"/>
            <a:ext cx="308067" cy="385162"/>
            <a:chOff x="0" y="0"/>
            <a:chExt cx="410756" cy="5135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1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624565" y="2645864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Web Development Fundamentals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624565" y="3098902"/>
            <a:ext cx="7268585" cy="357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Understand modern web development principles and industry best practices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87447" y="3791845"/>
            <a:ext cx="471773" cy="471783"/>
            <a:chOff x="0" y="0"/>
            <a:chExt cx="629031" cy="6290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69305" y="3835156"/>
            <a:ext cx="308067" cy="385162"/>
            <a:chOff x="0" y="0"/>
            <a:chExt cx="410756" cy="51355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2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624565" y="3848100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Responsive Web Interfaces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624565" y="4301138"/>
            <a:ext cx="7268585" cy="65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Develop user-friendly, mobile-first web interfaces using HTML, CSS, and Bootstrap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87447" y="5294414"/>
            <a:ext cx="471773" cy="471783"/>
            <a:chOff x="0" y="0"/>
            <a:chExt cx="629031" cy="62904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069305" y="5337724"/>
            <a:ext cx="308067" cy="385162"/>
            <a:chOff x="0" y="0"/>
            <a:chExt cx="410756" cy="51355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3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624565" y="5350669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JavaScript &amp; DOM Manipulation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24565" y="5803697"/>
            <a:ext cx="7268585" cy="357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Learn dynamic interactions, event handling, and client-side scripting with jQuery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87447" y="6496650"/>
            <a:ext cx="471773" cy="471783"/>
            <a:chOff x="0" y="0"/>
            <a:chExt cx="629031" cy="62904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069305" y="6539951"/>
            <a:ext cx="308067" cy="385162"/>
            <a:chOff x="0" y="0"/>
            <a:chExt cx="410756" cy="51355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4</a:t>
              </a: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1624565" y="6552905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Python &amp; OOP Mastery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624565" y="7005933"/>
            <a:ext cx="7268585" cy="357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Strengthen core Python skills including object-oriented programming concepts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987447" y="7698877"/>
            <a:ext cx="471773" cy="471783"/>
            <a:chOff x="0" y="0"/>
            <a:chExt cx="629031" cy="62904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69305" y="7742187"/>
            <a:ext cx="308067" cy="385162"/>
            <a:chOff x="0" y="0"/>
            <a:chExt cx="410756" cy="51355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5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1624565" y="7755141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Django Backend Development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624565" y="8208169"/>
            <a:ext cx="7268585" cy="65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Build server-side applications using the Django framework and MVC architecture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9399156" y="2589609"/>
            <a:ext cx="471773" cy="471783"/>
            <a:chOff x="0" y="0"/>
            <a:chExt cx="629031" cy="62904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9481004" y="2632920"/>
            <a:ext cx="308067" cy="385162"/>
            <a:chOff x="0" y="0"/>
            <a:chExt cx="410756" cy="51355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6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10036273" y="2645864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SQL &amp; MySQL Database Management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0036273" y="3098902"/>
            <a:ext cx="7268585" cy="65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Master relational databases, schema design, and efficient data retrieval techniques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9399156" y="4092178"/>
            <a:ext cx="471773" cy="471783"/>
            <a:chOff x="0" y="0"/>
            <a:chExt cx="629031" cy="6290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481004" y="4135488"/>
            <a:ext cx="308067" cy="385162"/>
            <a:chOff x="0" y="0"/>
            <a:chExt cx="410756" cy="51355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7</a:t>
              </a: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10036273" y="4148433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Git &amp; Version Control Workflows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0036273" y="4601470"/>
            <a:ext cx="7268585" cy="357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Understand Git branching, merging, and collaborative development via GitHub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9399156" y="5294414"/>
            <a:ext cx="471773" cy="471783"/>
            <a:chOff x="0" y="0"/>
            <a:chExt cx="629031" cy="62904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9481004" y="5337724"/>
            <a:ext cx="308067" cy="385162"/>
            <a:chOff x="0" y="0"/>
            <a:chExt cx="410756" cy="51355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8</a:t>
              </a: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10036273" y="5350669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Full Stack Integration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0036273" y="5803697"/>
            <a:ext cx="7268585" cy="65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Develop end-to-end competency connecting frontend, backend, and database layers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9399156" y="6796983"/>
            <a:ext cx="471773" cy="471783"/>
            <a:chOff x="0" y="0"/>
            <a:chExt cx="629031" cy="62904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481004" y="6840293"/>
            <a:ext cx="308067" cy="385162"/>
            <a:chOff x="0" y="0"/>
            <a:chExt cx="410756" cy="51355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9</a:t>
              </a:r>
            </a:p>
          </p:txBody>
        </p:sp>
      </p:grpSp>
      <p:sp>
        <p:nvSpPr>
          <p:cNvPr name="TextBox 69" id="69"/>
          <p:cNvSpPr txBox="true"/>
          <p:nvPr/>
        </p:nvSpPr>
        <p:spPr>
          <a:xfrm rot="0">
            <a:off x="10036273" y="6853238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Assessment &amp; Documentation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0036273" y="7306275"/>
            <a:ext cx="7268585" cy="357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Complete weekly assessments, practical exercises, and project documentation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9399156" y="7999209"/>
            <a:ext cx="471773" cy="471783"/>
            <a:chOff x="0" y="0"/>
            <a:chExt cx="629031" cy="629044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29031" cy="629158"/>
            </a:xfrm>
            <a:custGeom>
              <a:avLst/>
              <a:gdLst/>
              <a:ahLst/>
              <a:cxnLst/>
              <a:rect r="r" b="b" t="t" l="l"/>
              <a:pathLst>
                <a:path h="629158" w="629031">
                  <a:moveTo>
                    <a:pt x="0" y="117475"/>
                  </a:moveTo>
                  <a:cubicBezTo>
                    <a:pt x="0" y="52578"/>
                    <a:pt x="52578" y="0"/>
                    <a:pt x="117475" y="0"/>
                  </a:cubicBezTo>
                  <a:lnTo>
                    <a:pt x="511556" y="0"/>
                  </a:lnTo>
                  <a:cubicBezTo>
                    <a:pt x="576453" y="0"/>
                    <a:pt x="629031" y="52578"/>
                    <a:pt x="629031" y="117475"/>
                  </a:cubicBezTo>
                  <a:lnTo>
                    <a:pt x="629031" y="511683"/>
                  </a:lnTo>
                  <a:cubicBezTo>
                    <a:pt x="629031" y="576580"/>
                    <a:pt x="576453" y="629158"/>
                    <a:pt x="511556" y="629158"/>
                  </a:cubicBezTo>
                  <a:lnTo>
                    <a:pt x="117475" y="629158"/>
                  </a:lnTo>
                  <a:cubicBezTo>
                    <a:pt x="52578" y="629031"/>
                    <a:pt x="0" y="576453"/>
                    <a:pt x="0" y="511683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9481004" y="8042519"/>
            <a:ext cx="308067" cy="385162"/>
            <a:chOff x="0" y="0"/>
            <a:chExt cx="410756" cy="51355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410756" cy="513556"/>
            </a:xfrm>
            <a:custGeom>
              <a:avLst/>
              <a:gdLst/>
              <a:ahLst/>
              <a:cxnLst/>
              <a:rect r="r" b="b" t="t" l="l"/>
              <a:pathLst>
                <a:path h="513556" w="410756">
                  <a:moveTo>
                    <a:pt x="0" y="0"/>
                  </a:moveTo>
                  <a:lnTo>
                    <a:pt x="410756" y="0"/>
                  </a:lnTo>
                  <a:lnTo>
                    <a:pt x="410756" y="513556"/>
                  </a:lnTo>
                  <a:lnTo>
                    <a:pt x="0" y="513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412" t="0" r="-110412" b="1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9525"/>
              <a:ext cx="410756" cy="523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10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0036273" y="8055473"/>
            <a:ext cx="7268585" cy="340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3"/>
              </a:lnSpc>
            </a:pPr>
            <a:r>
              <a:rPr lang="en-US" sz="19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Industry Readiness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0036273" y="8508502"/>
            <a:ext cx="7268585" cy="657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5"/>
              </a:lnSpc>
            </a:pPr>
            <a:r>
              <a:rPr lang="en-US" sz="15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Build confidence and skills aligned with current industry expectations for junior developers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914400"/>
            <a:ext cx="16303114" cy="782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90"/>
              </a:lnSpc>
            </a:pPr>
            <a:r>
              <a:rPr lang="en-US" sz="48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Full Stack Development Architecture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2101005"/>
            <a:ext cx="17217495" cy="4638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 modern web application is built across four interdependent layers — each serving a distinct role in delivering seamless, data-driven user experiences.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182219" y="2835326"/>
            <a:ext cx="7922962" cy="3625901"/>
            <a:chOff x="0" y="0"/>
            <a:chExt cx="10563949" cy="4834534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0563987" cy="4834509"/>
            </a:xfrm>
            <a:custGeom>
              <a:avLst/>
              <a:gdLst/>
              <a:ahLst/>
              <a:cxnLst/>
              <a:rect r="r" b="b" t="t" l="l"/>
              <a:pathLst>
                <a:path h="4834509" w="10563987">
                  <a:moveTo>
                    <a:pt x="0" y="0"/>
                  </a:moveTo>
                  <a:lnTo>
                    <a:pt x="10563987" y="0"/>
                  </a:lnTo>
                  <a:lnTo>
                    <a:pt x="10563987" y="4834509"/>
                  </a:lnTo>
                  <a:lnTo>
                    <a:pt x="0" y="4834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985773" y="3286820"/>
            <a:ext cx="175259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4"/>
              </a:lnSpc>
            </a:pPr>
            <a:r>
              <a:rPr lang="en-US" sz="13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Backend &amp; DB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985773" y="3568217"/>
            <a:ext cx="1931746" cy="357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7"/>
              </a:lnSpc>
            </a:pPr>
            <a:r>
              <a:rPr lang="en-US" sz="10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Python/Django with SQL/MySQL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393045" y="4478617"/>
            <a:ext cx="175259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84"/>
              </a:lnSpc>
            </a:pPr>
            <a:r>
              <a:rPr lang="en-US" sz="13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Frontend Layer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369681" y="4760014"/>
            <a:ext cx="1775965" cy="357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297"/>
              </a:lnSpc>
            </a:pPr>
            <a:r>
              <a:rPr lang="en-US" sz="10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HTML, CSS, Bootstrap, JavaScript, jQuery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85773" y="5180886"/>
            <a:ext cx="175259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4"/>
              </a:lnSpc>
            </a:pPr>
            <a:r>
              <a:rPr lang="en-US" sz="135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User Interface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985773" y="5462283"/>
            <a:ext cx="1931746" cy="183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7"/>
              </a:lnSpc>
            </a:pPr>
            <a:r>
              <a:rPr lang="en-US" sz="10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Interactive UI and layout</a:t>
            </a:r>
          </a:p>
        </p:txBody>
      </p:sp>
      <p:sp>
        <p:nvSpPr>
          <p:cNvPr name="Freeform 16" id="16" descr="preencoded.png"/>
          <p:cNvSpPr/>
          <p:nvPr/>
        </p:nvSpPr>
        <p:spPr>
          <a:xfrm flipH="false" flipV="false" rot="0">
            <a:off x="992210" y="6731641"/>
            <a:ext cx="3895477" cy="2621756"/>
          </a:xfrm>
          <a:custGeom>
            <a:avLst/>
            <a:gdLst/>
            <a:ahLst/>
            <a:cxnLst/>
            <a:rect r="r" b="b" t="t" l="l"/>
            <a:pathLst>
              <a:path h="2621756" w="3895477">
                <a:moveTo>
                  <a:pt x="0" y="0"/>
                </a:moveTo>
                <a:lnTo>
                  <a:pt x="3895477" y="0"/>
                </a:lnTo>
                <a:lnTo>
                  <a:pt x="3895477" y="2621757"/>
                </a:lnTo>
                <a:lnTo>
                  <a:pt x="0" y="26217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32" r="0" b="-133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379153" y="6985244"/>
            <a:ext cx="3235890" cy="4004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Frontend Layer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79153" y="7453760"/>
            <a:ext cx="3235890" cy="1626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User interface, layout, visual styling, and interactive elements rendered in the browser</a:t>
            </a:r>
          </a:p>
        </p:txBody>
      </p:sp>
      <p:sp>
        <p:nvSpPr>
          <p:cNvPr name="Freeform 19" id="19" descr="preencoded.png"/>
          <p:cNvSpPr/>
          <p:nvPr/>
        </p:nvSpPr>
        <p:spPr>
          <a:xfrm flipH="false" flipV="false" rot="0">
            <a:off x="5128041" y="6731641"/>
            <a:ext cx="3895477" cy="2621756"/>
          </a:xfrm>
          <a:custGeom>
            <a:avLst/>
            <a:gdLst/>
            <a:ahLst/>
            <a:cxnLst/>
            <a:rect r="r" b="b" t="t" l="l"/>
            <a:pathLst>
              <a:path h="2621756" w="3895477">
                <a:moveTo>
                  <a:pt x="0" y="0"/>
                </a:moveTo>
                <a:lnTo>
                  <a:pt x="3895477" y="0"/>
                </a:lnTo>
                <a:lnTo>
                  <a:pt x="3895477" y="2621757"/>
                </a:lnTo>
                <a:lnTo>
                  <a:pt x="0" y="26217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32" r="0" b="-133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5514985" y="6985244"/>
            <a:ext cx="3235890" cy="4004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Backend Layer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514985" y="7453760"/>
            <a:ext cx="3235890" cy="1239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Application logic, business rules, URL routing, and server-side request processing</a:t>
            </a:r>
          </a:p>
        </p:txBody>
      </p:sp>
      <p:sp>
        <p:nvSpPr>
          <p:cNvPr name="Freeform 22" id="22" descr="preencoded.png"/>
          <p:cNvSpPr/>
          <p:nvPr/>
        </p:nvSpPr>
        <p:spPr>
          <a:xfrm flipH="false" flipV="false" rot="0">
            <a:off x="9263872" y="6731641"/>
            <a:ext cx="3895477" cy="2621756"/>
          </a:xfrm>
          <a:custGeom>
            <a:avLst/>
            <a:gdLst/>
            <a:ahLst/>
            <a:cxnLst/>
            <a:rect r="r" b="b" t="t" l="l"/>
            <a:pathLst>
              <a:path h="2621756" w="3895477">
                <a:moveTo>
                  <a:pt x="0" y="0"/>
                </a:moveTo>
                <a:lnTo>
                  <a:pt x="3895477" y="0"/>
                </a:lnTo>
                <a:lnTo>
                  <a:pt x="3895477" y="2621757"/>
                </a:lnTo>
                <a:lnTo>
                  <a:pt x="0" y="26217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32" r="0" b="-133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9650816" y="6985244"/>
            <a:ext cx="3235890" cy="4004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Database Layer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650816" y="7453760"/>
            <a:ext cx="3235890" cy="1626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Persistent structured data storage, retrieval, and management via SQL and MySQL</a:t>
            </a:r>
          </a:p>
        </p:txBody>
      </p:sp>
      <p:sp>
        <p:nvSpPr>
          <p:cNvPr name="Freeform 25" id="25" descr="preencoded.png"/>
          <p:cNvSpPr/>
          <p:nvPr/>
        </p:nvSpPr>
        <p:spPr>
          <a:xfrm flipH="false" flipV="false" rot="0">
            <a:off x="13399703" y="6731641"/>
            <a:ext cx="3895630" cy="2621756"/>
          </a:xfrm>
          <a:custGeom>
            <a:avLst/>
            <a:gdLst/>
            <a:ahLst/>
            <a:cxnLst/>
            <a:rect r="r" b="b" t="t" l="l"/>
            <a:pathLst>
              <a:path h="2621756" w="3895630">
                <a:moveTo>
                  <a:pt x="0" y="0"/>
                </a:moveTo>
                <a:lnTo>
                  <a:pt x="3895630" y="0"/>
                </a:lnTo>
                <a:lnTo>
                  <a:pt x="3895630" y="2621757"/>
                </a:lnTo>
                <a:lnTo>
                  <a:pt x="0" y="26217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35" r="0" b="-134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3786647" y="6985244"/>
            <a:ext cx="3236043" cy="4004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Version Control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786647" y="7453760"/>
            <a:ext cx="3236043" cy="1239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Source code versioning, collaboration, and change tracking via Git and GitHub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719880"/>
            <a:ext cx="16303114" cy="777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03"/>
              </a:lnSpc>
            </a:pPr>
            <a:r>
              <a:rPr lang="en-US" sz="46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Frontend Development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1871367"/>
            <a:ext cx="16303114" cy="814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The frontend layer defines how users see and interact with a web application. Three core technologies work in sequence — from raw structure to styled, responsive interfaces.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21960" y="2939806"/>
            <a:ext cx="5391312" cy="3351905"/>
            <a:chOff x="0" y="0"/>
            <a:chExt cx="7188416" cy="446920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188327" cy="4469130"/>
            </a:xfrm>
            <a:custGeom>
              <a:avLst/>
              <a:gdLst/>
              <a:ahLst/>
              <a:cxnLst/>
              <a:rect r="r" b="b" t="t" l="l"/>
              <a:pathLst>
                <a:path h="4469130" w="7188327">
                  <a:moveTo>
                    <a:pt x="0" y="226949"/>
                  </a:moveTo>
                  <a:cubicBezTo>
                    <a:pt x="0" y="101600"/>
                    <a:pt x="101600" y="0"/>
                    <a:pt x="226949" y="0"/>
                  </a:cubicBezTo>
                  <a:lnTo>
                    <a:pt x="6961378" y="0"/>
                  </a:lnTo>
                  <a:cubicBezTo>
                    <a:pt x="7086727" y="0"/>
                    <a:pt x="7188327" y="101600"/>
                    <a:pt x="7188327" y="226949"/>
                  </a:cubicBezTo>
                  <a:lnTo>
                    <a:pt x="7188327" y="4242181"/>
                  </a:lnTo>
                  <a:cubicBezTo>
                    <a:pt x="7188327" y="4367530"/>
                    <a:pt x="7086727" y="4469130"/>
                    <a:pt x="6961378" y="4469130"/>
                  </a:cubicBezTo>
                  <a:lnTo>
                    <a:pt x="226949" y="4469130"/>
                  </a:lnTo>
                  <a:cubicBezTo>
                    <a:pt x="101600" y="4469257"/>
                    <a:pt x="0" y="4367530"/>
                    <a:pt x="0" y="4242181"/>
                  </a:cubicBezTo>
                  <a:close/>
                </a:path>
              </a:pathLst>
            </a:custGeom>
            <a:solidFill>
              <a:srgbClr val="1E3A5F">
                <a:alpha val="90196"/>
              </a:srgbClr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58294" y="3136554"/>
            <a:ext cx="4918643" cy="397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HTML — Page Structure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58294" y="3683641"/>
            <a:ext cx="4918643" cy="2529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Semantic elements and document structure</a:t>
            </a:r>
          </a:p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Forms, tables, and input elements</a:t>
            </a:r>
          </a:p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Accessibility best practices</a:t>
            </a:r>
          </a:p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Document Object Model (DOM) foundations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629381" y="3505943"/>
            <a:ext cx="5049164" cy="397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CSS — Styling &amp; Layout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629381" y="4053040"/>
            <a:ext cx="5049164" cy="1790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Selectors, box model, and positioning</a:t>
            </a:r>
          </a:p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Flexbox and CSS Grid layouts</a:t>
            </a:r>
          </a:p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Media queries for mobile-first design</a:t>
            </a:r>
          </a:p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Visual hierarchy and typography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264914" y="3505943"/>
            <a:ext cx="5049164" cy="397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Bootstrap — Responsive Framework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264914" y="4053040"/>
            <a:ext cx="5049164" cy="1790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12-column responsive grid system</a:t>
            </a:r>
          </a:p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Pre-built UI components and utilities</a:t>
            </a:r>
          </a:p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Mobile-first design approach</a:t>
            </a:r>
          </a:p>
          <a:p>
            <a:pPr algn="l" marL="325755" indent="-162878" lvl="1">
              <a:lnSpc>
                <a:spcPts val="2808"/>
              </a:lnSpc>
              <a:buFont typeface="Arial"/>
              <a:buChar char="•"/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Rapid interface prototyping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5745213" y="6545161"/>
            <a:ext cx="6797107" cy="2983706"/>
            <a:chOff x="0" y="0"/>
            <a:chExt cx="9062809" cy="3978275"/>
          </a:xfrm>
        </p:grpSpPr>
        <p:sp>
          <p:nvSpPr>
            <p:cNvPr name="Freeform 17" id="17" descr="preencoded.png"/>
            <p:cNvSpPr/>
            <p:nvPr/>
          </p:nvSpPr>
          <p:spPr>
            <a:xfrm flipH="false" flipV="false" rot="0">
              <a:off x="0" y="0"/>
              <a:ext cx="9062847" cy="3978275"/>
            </a:xfrm>
            <a:custGeom>
              <a:avLst/>
              <a:gdLst/>
              <a:ahLst/>
              <a:cxnLst/>
              <a:rect r="r" b="b" t="t" l="l"/>
              <a:pathLst>
                <a:path h="3978275" w="9062847">
                  <a:moveTo>
                    <a:pt x="0" y="0"/>
                  </a:moveTo>
                  <a:lnTo>
                    <a:pt x="9062847" y="0"/>
                  </a:lnTo>
                  <a:lnTo>
                    <a:pt x="9062847" y="3978275"/>
                  </a:lnTo>
                  <a:lnTo>
                    <a:pt x="0" y="39782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2" r="0" b="-91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898348" y="8658501"/>
            <a:ext cx="1191425" cy="203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2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HTML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898348" y="8904513"/>
            <a:ext cx="1191425" cy="297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1"/>
              </a:lnSpc>
            </a:pPr>
            <a:r>
              <a:rPr lang="en-US" sz="9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Document structure and semantics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243499" y="8612676"/>
            <a:ext cx="1191425" cy="203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2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Bootstrap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43499" y="8858688"/>
            <a:ext cx="1191425" cy="297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1"/>
              </a:lnSpc>
            </a:pPr>
            <a:r>
              <a:rPr lang="en-US" sz="9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Responsive UI and components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580749" y="6838998"/>
            <a:ext cx="1191425" cy="203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2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CSS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580749" y="7085019"/>
            <a:ext cx="1191425" cy="297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1"/>
              </a:lnSpc>
            </a:pPr>
            <a:r>
              <a:rPr lang="en-US" sz="9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Visual styling and layout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782393"/>
            <a:ext cx="16303114" cy="709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5"/>
              </a:lnSpc>
            </a:pPr>
            <a:r>
              <a:rPr lang="en-US" sz="42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JavaScript &amp; jQuery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1828352"/>
            <a:ext cx="16303114" cy="725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JavaScript adds logic and interactivity to static HTML pages. jQuery simplifies DOM manipulation and AJAX calls, enabling dynamic, responsive user experiences with reduced code complexity.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2210" y="2943520"/>
            <a:ext cx="8555622" cy="373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JavaScript — Core Scripting</a:t>
            </a:r>
          </a:p>
        </p:txBody>
      </p:sp>
      <p:sp>
        <p:nvSpPr>
          <p:cNvPr name="Freeform 9" id="9" descr="preencoded.png"/>
          <p:cNvSpPr/>
          <p:nvPr/>
        </p:nvSpPr>
        <p:spPr>
          <a:xfrm flipH="false" flipV="false" rot="0">
            <a:off x="1075106" y="3545386"/>
            <a:ext cx="331280" cy="331289"/>
          </a:xfrm>
          <a:custGeom>
            <a:avLst/>
            <a:gdLst/>
            <a:ahLst/>
            <a:cxnLst/>
            <a:rect r="r" b="b" t="t" l="l"/>
            <a:pathLst>
              <a:path h="331289" w="331280">
                <a:moveTo>
                  <a:pt x="0" y="0"/>
                </a:moveTo>
                <a:lnTo>
                  <a:pt x="331279" y="0"/>
                </a:lnTo>
                <a:lnTo>
                  <a:pt x="331279" y="331289"/>
                </a:lnTo>
                <a:lnTo>
                  <a:pt x="0" y="331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573" t="0" r="-8573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710138" y="3510115"/>
            <a:ext cx="7837684" cy="373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Language Fundamentals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10138" y="4023570"/>
            <a:ext cx="7837684" cy="391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Variables, data types, operators, and control flow structures</a:t>
            </a:r>
          </a:p>
        </p:txBody>
      </p:sp>
      <p:sp>
        <p:nvSpPr>
          <p:cNvPr name="Freeform 12" id="12" descr="preencoded.png"/>
          <p:cNvSpPr/>
          <p:nvPr/>
        </p:nvSpPr>
        <p:spPr>
          <a:xfrm flipH="false" flipV="false" rot="0">
            <a:off x="1075106" y="4815183"/>
            <a:ext cx="331280" cy="331289"/>
          </a:xfrm>
          <a:custGeom>
            <a:avLst/>
            <a:gdLst/>
            <a:ahLst/>
            <a:cxnLst/>
            <a:rect r="r" b="b" t="t" l="l"/>
            <a:pathLst>
              <a:path h="331289" w="331280">
                <a:moveTo>
                  <a:pt x="0" y="0"/>
                </a:moveTo>
                <a:lnTo>
                  <a:pt x="331279" y="0"/>
                </a:lnTo>
                <a:lnTo>
                  <a:pt x="331279" y="331289"/>
                </a:lnTo>
                <a:lnTo>
                  <a:pt x="0" y="331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573" t="0" r="-8573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710138" y="4779912"/>
            <a:ext cx="7837684" cy="373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Functions &amp; Scope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10138" y="5293366"/>
            <a:ext cx="7837684" cy="391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Function definition, closures, and execution context management</a:t>
            </a:r>
          </a:p>
        </p:txBody>
      </p:sp>
      <p:sp>
        <p:nvSpPr>
          <p:cNvPr name="Freeform 15" id="15" descr="preencoded.png"/>
          <p:cNvSpPr/>
          <p:nvPr/>
        </p:nvSpPr>
        <p:spPr>
          <a:xfrm flipH="false" flipV="false" rot="0">
            <a:off x="1075106" y="6084989"/>
            <a:ext cx="331280" cy="331289"/>
          </a:xfrm>
          <a:custGeom>
            <a:avLst/>
            <a:gdLst/>
            <a:ahLst/>
            <a:cxnLst/>
            <a:rect r="r" b="b" t="t" l="l"/>
            <a:pathLst>
              <a:path h="331289" w="331280">
                <a:moveTo>
                  <a:pt x="0" y="0"/>
                </a:moveTo>
                <a:lnTo>
                  <a:pt x="331279" y="0"/>
                </a:lnTo>
                <a:lnTo>
                  <a:pt x="331279" y="331289"/>
                </a:lnTo>
                <a:lnTo>
                  <a:pt x="0" y="331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573" t="0" r="-8573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710138" y="6049718"/>
            <a:ext cx="7837684" cy="373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DOM Manipulation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10138" y="6563173"/>
            <a:ext cx="7837684" cy="391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Selecting, modifying, and responding to document elements in real time</a:t>
            </a:r>
          </a:p>
        </p:txBody>
      </p:sp>
      <p:sp>
        <p:nvSpPr>
          <p:cNvPr name="Freeform 18" id="18" descr="preencoded.png"/>
          <p:cNvSpPr/>
          <p:nvPr/>
        </p:nvSpPr>
        <p:spPr>
          <a:xfrm flipH="false" flipV="false" rot="0">
            <a:off x="1075106" y="7354786"/>
            <a:ext cx="331280" cy="331289"/>
          </a:xfrm>
          <a:custGeom>
            <a:avLst/>
            <a:gdLst/>
            <a:ahLst/>
            <a:cxnLst/>
            <a:rect r="r" b="b" t="t" l="l"/>
            <a:pathLst>
              <a:path h="331289" w="331280">
                <a:moveTo>
                  <a:pt x="0" y="0"/>
                </a:moveTo>
                <a:lnTo>
                  <a:pt x="331279" y="0"/>
                </a:lnTo>
                <a:lnTo>
                  <a:pt x="331279" y="331289"/>
                </a:lnTo>
                <a:lnTo>
                  <a:pt x="0" y="331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573" t="0" r="-8573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710138" y="7319515"/>
            <a:ext cx="7837684" cy="373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Event Handling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10138" y="7832969"/>
            <a:ext cx="7837684" cy="391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Listening and responding to user actions — clicks, inputs, and form submissions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096395" y="3305918"/>
            <a:ext cx="7208310" cy="373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jQuery — Simplified Client-Side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082108" y="3886800"/>
            <a:ext cx="3534280" cy="2083298"/>
            <a:chOff x="0" y="0"/>
            <a:chExt cx="4712373" cy="277773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712462" cy="2777744"/>
            </a:xfrm>
            <a:custGeom>
              <a:avLst/>
              <a:gdLst/>
              <a:ahLst/>
              <a:cxnLst/>
              <a:rect r="r" b="b" t="t" l="l"/>
              <a:pathLst>
                <a:path h="2777744" w="4712462">
                  <a:moveTo>
                    <a:pt x="0" y="125476"/>
                  </a:moveTo>
                  <a:cubicBezTo>
                    <a:pt x="0" y="56134"/>
                    <a:pt x="56134" y="0"/>
                    <a:pt x="125476" y="0"/>
                  </a:cubicBezTo>
                  <a:lnTo>
                    <a:pt x="4586986" y="0"/>
                  </a:lnTo>
                  <a:cubicBezTo>
                    <a:pt x="4656328" y="0"/>
                    <a:pt x="4712462" y="56134"/>
                    <a:pt x="4712462" y="125476"/>
                  </a:cubicBezTo>
                  <a:lnTo>
                    <a:pt x="4712462" y="2652268"/>
                  </a:lnTo>
                  <a:cubicBezTo>
                    <a:pt x="4712462" y="2721610"/>
                    <a:pt x="4656328" y="2777744"/>
                    <a:pt x="4586986" y="2777744"/>
                  </a:cubicBezTo>
                  <a:lnTo>
                    <a:pt x="125476" y="2777744"/>
                  </a:lnTo>
                  <a:cubicBezTo>
                    <a:pt x="56134" y="2777744"/>
                    <a:pt x="0" y="2721610"/>
                    <a:pt x="0" y="2652268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28575" cap="sq">
              <a:solidFill>
                <a:srgbClr val="C7C7D0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10345826" y="4121944"/>
            <a:ext cx="3006852" cy="719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DOM Traversal &amp; Selection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345826" y="4980680"/>
            <a:ext cx="3006852" cy="725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Concise selectors and tree navigation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3784561" y="3886800"/>
            <a:ext cx="3534432" cy="2083298"/>
            <a:chOff x="0" y="0"/>
            <a:chExt cx="4712576" cy="277773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712589" cy="2777744"/>
            </a:xfrm>
            <a:custGeom>
              <a:avLst/>
              <a:gdLst/>
              <a:ahLst/>
              <a:cxnLst/>
              <a:rect r="r" b="b" t="t" l="l"/>
              <a:pathLst>
                <a:path h="2777744" w="4712589">
                  <a:moveTo>
                    <a:pt x="0" y="125476"/>
                  </a:moveTo>
                  <a:cubicBezTo>
                    <a:pt x="0" y="56134"/>
                    <a:pt x="56134" y="0"/>
                    <a:pt x="125476" y="0"/>
                  </a:cubicBezTo>
                  <a:lnTo>
                    <a:pt x="4587113" y="0"/>
                  </a:lnTo>
                  <a:cubicBezTo>
                    <a:pt x="4656455" y="0"/>
                    <a:pt x="4712589" y="56134"/>
                    <a:pt x="4712589" y="125476"/>
                  </a:cubicBezTo>
                  <a:lnTo>
                    <a:pt x="4712589" y="2652268"/>
                  </a:lnTo>
                  <a:cubicBezTo>
                    <a:pt x="4712589" y="2721610"/>
                    <a:pt x="4656455" y="2777744"/>
                    <a:pt x="4587113" y="2777744"/>
                  </a:cubicBezTo>
                  <a:lnTo>
                    <a:pt x="125476" y="2777744"/>
                  </a:lnTo>
                  <a:cubicBezTo>
                    <a:pt x="56134" y="2777744"/>
                    <a:pt x="0" y="2721610"/>
                    <a:pt x="0" y="2652268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28575" cap="sq">
              <a:solidFill>
                <a:srgbClr val="C7C7D0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14048280" y="4121944"/>
            <a:ext cx="3006995" cy="373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Animations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048280" y="4635398"/>
            <a:ext cx="3006995" cy="725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Built-in effects and custom transitions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0082108" y="6138262"/>
            <a:ext cx="3534280" cy="1738017"/>
            <a:chOff x="0" y="0"/>
            <a:chExt cx="4712373" cy="231735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712462" cy="2317369"/>
            </a:xfrm>
            <a:custGeom>
              <a:avLst/>
              <a:gdLst/>
              <a:ahLst/>
              <a:cxnLst/>
              <a:rect r="r" b="b" t="t" l="l"/>
              <a:pathLst>
                <a:path h="2317369" w="4712462">
                  <a:moveTo>
                    <a:pt x="0" y="125857"/>
                  </a:moveTo>
                  <a:cubicBezTo>
                    <a:pt x="0" y="56388"/>
                    <a:pt x="56388" y="0"/>
                    <a:pt x="125857" y="0"/>
                  </a:cubicBezTo>
                  <a:lnTo>
                    <a:pt x="4586605" y="0"/>
                  </a:lnTo>
                  <a:cubicBezTo>
                    <a:pt x="4656074" y="0"/>
                    <a:pt x="4712462" y="56388"/>
                    <a:pt x="4712462" y="125857"/>
                  </a:cubicBezTo>
                  <a:lnTo>
                    <a:pt x="4712462" y="2191512"/>
                  </a:lnTo>
                  <a:cubicBezTo>
                    <a:pt x="4712462" y="2260981"/>
                    <a:pt x="4656074" y="2317369"/>
                    <a:pt x="4586605" y="2317369"/>
                  </a:cubicBezTo>
                  <a:lnTo>
                    <a:pt x="125857" y="2317369"/>
                  </a:lnTo>
                  <a:cubicBezTo>
                    <a:pt x="56388" y="2317369"/>
                    <a:pt x="0" y="2260981"/>
                    <a:pt x="0" y="2191512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28575" cap="sq">
              <a:solidFill>
                <a:srgbClr val="C7C7D0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10345826" y="6373416"/>
            <a:ext cx="3006852" cy="373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AJAX Calls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345826" y="6886870"/>
            <a:ext cx="3006852" cy="725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Asynchronous data loading without page refresh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3784561" y="6138262"/>
            <a:ext cx="3534432" cy="1738017"/>
            <a:chOff x="0" y="0"/>
            <a:chExt cx="4712576" cy="23173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712589" cy="2317369"/>
            </a:xfrm>
            <a:custGeom>
              <a:avLst/>
              <a:gdLst/>
              <a:ahLst/>
              <a:cxnLst/>
              <a:rect r="r" b="b" t="t" l="l"/>
              <a:pathLst>
                <a:path h="2317369" w="4712589">
                  <a:moveTo>
                    <a:pt x="0" y="125857"/>
                  </a:moveTo>
                  <a:cubicBezTo>
                    <a:pt x="0" y="56388"/>
                    <a:pt x="56388" y="0"/>
                    <a:pt x="125857" y="0"/>
                  </a:cubicBezTo>
                  <a:lnTo>
                    <a:pt x="4586732" y="0"/>
                  </a:lnTo>
                  <a:cubicBezTo>
                    <a:pt x="4656201" y="0"/>
                    <a:pt x="4712589" y="56388"/>
                    <a:pt x="4712589" y="125857"/>
                  </a:cubicBezTo>
                  <a:lnTo>
                    <a:pt x="4712589" y="2191512"/>
                  </a:lnTo>
                  <a:cubicBezTo>
                    <a:pt x="4712589" y="2260981"/>
                    <a:pt x="4656201" y="2317369"/>
                    <a:pt x="4586732" y="2317369"/>
                  </a:cubicBezTo>
                  <a:lnTo>
                    <a:pt x="125857" y="2317369"/>
                  </a:lnTo>
                  <a:cubicBezTo>
                    <a:pt x="56388" y="2317369"/>
                    <a:pt x="0" y="2260981"/>
                    <a:pt x="0" y="2191512"/>
                  </a:cubicBez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  <a:ln w="28575" cap="sq">
              <a:solidFill>
                <a:srgbClr val="C7C7D0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14048280" y="6373416"/>
            <a:ext cx="3006995" cy="373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Reduced Complexity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048280" y="6886870"/>
            <a:ext cx="3006995" cy="725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Cross-browser compatible, concise syntax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92210" y="8667007"/>
            <a:ext cx="16303114" cy="818550"/>
            <a:chOff x="0" y="0"/>
            <a:chExt cx="21737485" cy="10914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737447" cy="1091311"/>
            </a:xfrm>
            <a:custGeom>
              <a:avLst/>
              <a:gdLst/>
              <a:ahLst/>
              <a:cxnLst/>
              <a:rect r="r" b="b" t="t" l="l"/>
              <a:pathLst>
                <a:path h="1091311" w="21737447">
                  <a:moveTo>
                    <a:pt x="0" y="123698"/>
                  </a:moveTo>
                  <a:cubicBezTo>
                    <a:pt x="0" y="55372"/>
                    <a:pt x="55372" y="0"/>
                    <a:pt x="123698" y="0"/>
                  </a:cubicBezTo>
                  <a:lnTo>
                    <a:pt x="21613749" y="0"/>
                  </a:lnTo>
                  <a:cubicBezTo>
                    <a:pt x="21682075" y="0"/>
                    <a:pt x="21737447" y="55372"/>
                    <a:pt x="21737447" y="123698"/>
                  </a:cubicBezTo>
                  <a:lnTo>
                    <a:pt x="21737447" y="967613"/>
                  </a:lnTo>
                  <a:cubicBezTo>
                    <a:pt x="21737447" y="1035939"/>
                    <a:pt x="21682075" y="1091311"/>
                    <a:pt x="21613749" y="1091311"/>
                  </a:cubicBezTo>
                  <a:lnTo>
                    <a:pt x="123698" y="1091311"/>
                  </a:lnTo>
                  <a:cubicBezTo>
                    <a:pt x="55372" y="1091438"/>
                    <a:pt x="0" y="1036066"/>
                    <a:pt x="0" y="967613"/>
                  </a:cubicBezTo>
                  <a:close/>
                </a:path>
              </a:pathLst>
            </a:custGeom>
            <a:solidFill>
              <a:srgbClr val="E1E1EA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213066" y="8944718"/>
            <a:ext cx="276073" cy="220866"/>
            <a:chOff x="0" y="0"/>
            <a:chExt cx="368097" cy="294488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368046" cy="294513"/>
            </a:xfrm>
            <a:custGeom>
              <a:avLst/>
              <a:gdLst/>
              <a:ahLst/>
              <a:cxnLst/>
              <a:rect r="r" b="b" t="t" l="l"/>
              <a:pathLst>
                <a:path h="294513" w="368046">
                  <a:moveTo>
                    <a:pt x="0" y="0"/>
                  </a:moveTo>
                  <a:lnTo>
                    <a:pt x="368046" y="0"/>
                  </a:lnTo>
                  <a:lnTo>
                    <a:pt x="368046" y="294513"/>
                  </a:lnTo>
                  <a:lnTo>
                    <a:pt x="0" y="294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720" r="-13" b="-1711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709995" y="8861822"/>
            <a:ext cx="16278863" cy="391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8"/>
              </a:lnSpc>
            </a:pPr>
            <a:r>
              <a:rPr lang="en-US" sz="1725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Interaction Flow:</a:t>
            </a:r>
            <a:r>
              <a:rPr lang="en-US" sz="1725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User Action → JavaScript / jQuery Event Handler → DOM Update → Dynamic Web Page Response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721814"/>
            <a:ext cx="16303114" cy="7700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96"/>
              </a:lnSpc>
            </a:pPr>
            <a:r>
              <a:rPr lang="en-US" sz="472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Python Programming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1881188"/>
            <a:ext cx="16303114" cy="833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7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Python serves as both a standalone scripting language and the foundational layer for backend web development via Django. The curriculum covers core syntax through advanced OOP and module usage.</a:t>
            </a:r>
          </a:p>
        </p:txBody>
      </p:sp>
      <p:sp>
        <p:nvSpPr>
          <p:cNvPr name="Freeform 8" id="8" descr="preencoded.png"/>
          <p:cNvSpPr/>
          <p:nvPr/>
        </p:nvSpPr>
        <p:spPr>
          <a:xfrm flipH="false" flipV="false" rot="0">
            <a:off x="992210" y="2976115"/>
            <a:ext cx="720909" cy="720928"/>
          </a:xfrm>
          <a:custGeom>
            <a:avLst/>
            <a:gdLst/>
            <a:ahLst/>
            <a:cxnLst/>
            <a:rect r="r" b="b" t="t" l="l"/>
            <a:pathLst>
              <a:path h="720928" w="720909">
                <a:moveTo>
                  <a:pt x="0" y="0"/>
                </a:moveTo>
                <a:lnTo>
                  <a:pt x="720909" y="0"/>
                </a:lnTo>
                <a:lnTo>
                  <a:pt x="720909" y="720928"/>
                </a:lnTo>
                <a:lnTo>
                  <a:pt x="0" y="72092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659" t="0" r="-657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004070" y="2947540"/>
            <a:ext cx="4228548" cy="404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Syntax &amp; Fundamentals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004070" y="3415008"/>
            <a:ext cx="4228548" cy="121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7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Variables, data types, operators, and Python's clean, readable syntax conventions</a:t>
            </a:r>
          </a:p>
        </p:txBody>
      </p:sp>
      <p:sp>
        <p:nvSpPr>
          <p:cNvPr name="Freeform 11" id="11" descr="preencoded.png"/>
          <p:cNvSpPr/>
          <p:nvPr/>
        </p:nvSpPr>
        <p:spPr>
          <a:xfrm flipH="false" flipV="false" rot="0">
            <a:off x="6523568" y="2976115"/>
            <a:ext cx="720909" cy="720928"/>
          </a:xfrm>
          <a:custGeom>
            <a:avLst/>
            <a:gdLst/>
            <a:ahLst/>
            <a:cxnLst/>
            <a:rect r="r" b="b" t="t" l="l"/>
            <a:pathLst>
              <a:path h="720928" w="720909">
                <a:moveTo>
                  <a:pt x="0" y="0"/>
                </a:moveTo>
                <a:lnTo>
                  <a:pt x="720909" y="0"/>
                </a:lnTo>
                <a:lnTo>
                  <a:pt x="720909" y="720928"/>
                </a:lnTo>
                <a:lnTo>
                  <a:pt x="0" y="72092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4607" t="0" r="-4605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35428" y="2947540"/>
            <a:ext cx="4228548" cy="404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Control Flow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535428" y="3415008"/>
            <a:ext cx="4228548" cy="833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7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Conditional statements, loops, iteration, and logical flow control structures</a:t>
            </a:r>
          </a:p>
        </p:txBody>
      </p:sp>
      <p:sp>
        <p:nvSpPr>
          <p:cNvPr name="Freeform 14" id="14" descr="preencoded.png"/>
          <p:cNvSpPr/>
          <p:nvPr/>
        </p:nvSpPr>
        <p:spPr>
          <a:xfrm flipH="false" flipV="false" rot="0">
            <a:off x="12054926" y="2976115"/>
            <a:ext cx="720909" cy="720928"/>
          </a:xfrm>
          <a:custGeom>
            <a:avLst/>
            <a:gdLst/>
            <a:ahLst/>
            <a:cxnLst/>
            <a:rect r="r" b="b" t="t" l="l"/>
            <a:pathLst>
              <a:path h="720928" w="720909">
                <a:moveTo>
                  <a:pt x="0" y="0"/>
                </a:moveTo>
                <a:lnTo>
                  <a:pt x="720909" y="0"/>
                </a:lnTo>
                <a:lnTo>
                  <a:pt x="720909" y="720928"/>
                </a:lnTo>
                <a:lnTo>
                  <a:pt x="0" y="72092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4604" r="0" b="-4603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3066786" y="2947540"/>
            <a:ext cx="4228548" cy="404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Functions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066786" y="3415008"/>
            <a:ext cx="4228548" cy="121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7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Function definition, parameters, return values, default arguments, and scope management</a:t>
            </a:r>
          </a:p>
        </p:txBody>
      </p:sp>
      <p:sp>
        <p:nvSpPr>
          <p:cNvPr name="Freeform 17" id="17" descr="preencoded.png"/>
          <p:cNvSpPr/>
          <p:nvPr/>
        </p:nvSpPr>
        <p:spPr>
          <a:xfrm flipH="false" flipV="false" rot="0">
            <a:off x="992210" y="5092151"/>
            <a:ext cx="720909" cy="720928"/>
          </a:xfrm>
          <a:custGeom>
            <a:avLst/>
            <a:gdLst/>
            <a:ahLst/>
            <a:cxnLst/>
            <a:rect r="r" b="b" t="t" l="l"/>
            <a:pathLst>
              <a:path h="720928" w="720909">
                <a:moveTo>
                  <a:pt x="0" y="0"/>
                </a:moveTo>
                <a:lnTo>
                  <a:pt x="720909" y="0"/>
                </a:lnTo>
                <a:lnTo>
                  <a:pt x="720909" y="720928"/>
                </a:lnTo>
                <a:lnTo>
                  <a:pt x="0" y="72092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11185" t="0" r="-11185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2004070" y="5063576"/>
            <a:ext cx="4228548" cy="404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Object-Oriented Programming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004070" y="5531053"/>
            <a:ext cx="4228548" cy="121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7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Classes, objects, inheritance, polymorphism, and encapsulation principles</a:t>
            </a:r>
          </a:p>
        </p:txBody>
      </p:sp>
      <p:sp>
        <p:nvSpPr>
          <p:cNvPr name="Freeform 20" id="20" descr="preencoded.png"/>
          <p:cNvSpPr/>
          <p:nvPr/>
        </p:nvSpPr>
        <p:spPr>
          <a:xfrm flipH="false" flipV="false" rot="0">
            <a:off x="6523568" y="5092151"/>
            <a:ext cx="720909" cy="720928"/>
          </a:xfrm>
          <a:custGeom>
            <a:avLst/>
            <a:gdLst/>
            <a:ahLst/>
            <a:cxnLst/>
            <a:rect r="r" b="b" t="t" l="l"/>
            <a:pathLst>
              <a:path h="720928" w="720909">
                <a:moveTo>
                  <a:pt x="0" y="0"/>
                </a:moveTo>
                <a:lnTo>
                  <a:pt x="720909" y="0"/>
                </a:lnTo>
                <a:lnTo>
                  <a:pt x="720909" y="720928"/>
                </a:lnTo>
                <a:lnTo>
                  <a:pt x="0" y="72092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1" t="0" r="-1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7535428" y="5063576"/>
            <a:ext cx="4228548" cy="404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Data Structures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535428" y="5531053"/>
            <a:ext cx="4228548" cy="121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7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Lists, dictionaries, tuples, and sets — selection and usage patterns for efficient data handling</a:t>
            </a:r>
          </a:p>
        </p:txBody>
      </p:sp>
      <p:sp>
        <p:nvSpPr>
          <p:cNvPr name="Freeform 23" id="23" descr="preencoded.png"/>
          <p:cNvSpPr/>
          <p:nvPr/>
        </p:nvSpPr>
        <p:spPr>
          <a:xfrm flipH="false" flipV="false" rot="0">
            <a:off x="12054926" y="5092151"/>
            <a:ext cx="720909" cy="720928"/>
          </a:xfrm>
          <a:custGeom>
            <a:avLst/>
            <a:gdLst/>
            <a:ahLst/>
            <a:cxnLst/>
            <a:rect r="r" b="b" t="t" l="l"/>
            <a:pathLst>
              <a:path h="720928" w="720909">
                <a:moveTo>
                  <a:pt x="0" y="0"/>
                </a:moveTo>
                <a:lnTo>
                  <a:pt x="720909" y="0"/>
                </a:lnTo>
                <a:lnTo>
                  <a:pt x="720909" y="720928"/>
                </a:lnTo>
                <a:lnTo>
                  <a:pt x="0" y="72092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-12498" r="0" b="-12497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3066786" y="5063576"/>
            <a:ext cx="4228548" cy="404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Modules &amp; Libraries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066786" y="5531053"/>
            <a:ext cx="4228548" cy="1211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7"/>
              </a:lnSpc>
            </a:pPr>
            <a:r>
              <a:rPr lang="en-US" sz="187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Importing, using, and organising external Python modules to extend functionality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367158" y="7004447"/>
            <a:ext cx="6016066" cy="2541537"/>
            <a:chOff x="0" y="0"/>
            <a:chExt cx="8021422" cy="3388716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8021447" cy="3388741"/>
            </a:xfrm>
            <a:custGeom>
              <a:avLst/>
              <a:gdLst/>
              <a:ahLst/>
              <a:cxnLst/>
              <a:rect r="r" b="b" t="t" l="l"/>
              <a:pathLst>
                <a:path h="3388741" w="8021447">
                  <a:moveTo>
                    <a:pt x="0" y="0"/>
                  </a:moveTo>
                  <a:lnTo>
                    <a:pt x="8021447" y="0"/>
                  </a:lnTo>
                  <a:lnTo>
                    <a:pt x="8021447" y="3388741"/>
                  </a:lnTo>
                  <a:lnTo>
                    <a:pt x="0" y="3388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-4110" r="0" b="-411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0619184" y="8832504"/>
            <a:ext cx="1042549" cy="411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97"/>
              </a:lnSpc>
            </a:pPr>
            <a:r>
              <a:rPr lang="en-US" sz="12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Django Backend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305277" y="8932926"/>
            <a:ext cx="1042549" cy="210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97"/>
              </a:lnSpc>
            </a:pPr>
            <a:r>
              <a:rPr lang="en-US" sz="12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OOP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998514" y="8932926"/>
            <a:ext cx="1042549" cy="210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97"/>
              </a:lnSpc>
            </a:pPr>
            <a:r>
              <a:rPr lang="en-US" sz="12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Control Flow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663185" y="8832504"/>
            <a:ext cx="1042549" cy="411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97"/>
              </a:lnSpc>
            </a:pPr>
            <a:r>
              <a:rPr lang="en-US" sz="12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Fundamentals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670322"/>
            <a:ext cx="16303114" cy="6343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7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Django Web Development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1559719"/>
            <a:ext cx="17217495" cy="323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500" b="true">
                <a:solidFill>
                  <a:srgbClr val="3C3939"/>
                </a:solidFill>
                <a:latin typeface="Roboto Bold"/>
                <a:ea typeface="Roboto Bold"/>
                <a:cs typeface="Roboto Bold"/>
                <a:sym typeface="Roboto Bold"/>
              </a:rPr>
              <a:t>Python + Django</a:t>
            </a:r>
            <a:r>
              <a:rPr lang="en-US" sz="15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 forms the backbone of the backend — a high-level web framework that encourages rapid development, clean design, and secure application architecture.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52764" y="2053676"/>
            <a:ext cx="7355195" cy="7534427"/>
            <a:chOff x="0" y="0"/>
            <a:chExt cx="9806927" cy="1004590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806940" cy="10045954"/>
            </a:xfrm>
            <a:custGeom>
              <a:avLst/>
              <a:gdLst/>
              <a:ahLst/>
              <a:cxnLst/>
              <a:rect r="r" b="b" t="t" l="l"/>
              <a:pathLst>
                <a:path h="10045954" w="9806940">
                  <a:moveTo>
                    <a:pt x="0" y="186055"/>
                  </a:moveTo>
                  <a:cubicBezTo>
                    <a:pt x="0" y="83312"/>
                    <a:pt x="83312" y="0"/>
                    <a:pt x="186055" y="0"/>
                  </a:cubicBezTo>
                  <a:lnTo>
                    <a:pt x="9620886" y="0"/>
                  </a:lnTo>
                  <a:cubicBezTo>
                    <a:pt x="9723628" y="0"/>
                    <a:pt x="9806940" y="83312"/>
                    <a:pt x="9806940" y="186055"/>
                  </a:cubicBezTo>
                  <a:lnTo>
                    <a:pt x="9806940" y="9859899"/>
                  </a:lnTo>
                  <a:cubicBezTo>
                    <a:pt x="9806940" y="9962642"/>
                    <a:pt x="9723628" y="10045954"/>
                    <a:pt x="9620886" y="10045954"/>
                  </a:cubicBezTo>
                  <a:lnTo>
                    <a:pt x="186055" y="10045954"/>
                  </a:lnTo>
                  <a:cubicBezTo>
                    <a:pt x="83312" y="10045954"/>
                    <a:pt x="0" y="9962642"/>
                    <a:pt x="0" y="9859899"/>
                  </a:cubicBezTo>
                  <a:close/>
                </a:path>
              </a:pathLst>
            </a:custGeom>
            <a:solidFill>
              <a:srgbClr val="1E3A5F">
                <a:alpha val="90196"/>
              </a:srgbClr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46531" y="2185988"/>
            <a:ext cx="6967661" cy="321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75">
                <a:solidFill>
                  <a:srgbClr val="FFFFFF"/>
                </a:solidFill>
                <a:latin typeface="Raleway"/>
                <a:ea typeface="Raleway"/>
                <a:cs typeface="Raleway"/>
                <a:sym typeface="Raleway"/>
              </a:rPr>
              <a:t>Core Django Components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41768" y="2673401"/>
            <a:ext cx="3417608" cy="2155184"/>
            <a:chOff x="0" y="0"/>
            <a:chExt cx="4556811" cy="287357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556760" cy="2873502"/>
            </a:xfrm>
            <a:custGeom>
              <a:avLst/>
              <a:gdLst/>
              <a:ahLst/>
              <a:cxnLst/>
              <a:rect r="r" b="b" t="t" l="l"/>
              <a:pathLst>
                <a:path h="2873502" w="4556760">
                  <a:moveTo>
                    <a:pt x="0" y="108966"/>
                  </a:moveTo>
                  <a:cubicBezTo>
                    <a:pt x="0" y="48768"/>
                    <a:pt x="48768" y="0"/>
                    <a:pt x="108966" y="0"/>
                  </a:cubicBezTo>
                  <a:lnTo>
                    <a:pt x="4447794" y="0"/>
                  </a:lnTo>
                  <a:cubicBezTo>
                    <a:pt x="4507992" y="0"/>
                    <a:pt x="4556760" y="48768"/>
                    <a:pt x="4556760" y="108966"/>
                  </a:cubicBezTo>
                  <a:lnTo>
                    <a:pt x="4556760" y="2764536"/>
                  </a:lnTo>
                  <a:cubicBezTo>
                    <a:pt x="4556760" y="2824734"/>
                    <a:pt x="4507992" y="2873502"/>
                    <a:pt x="4447794" y="2873502"/>
                  </a:cubicBezTo>
                  <a:lnTo>
                    <a:pt x="108966" y="2873502"/>
                  </a:lnTo>
                  <a:cubicBezTo>
                    <a:pt x="48768" y="2873502"/>
                    <a:pt x="0" y="2824734"/>
                    <a:pt x="0" y="2764536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249823" y="2881465"/>
            <a:ext cx="581311" cy="581320"/>
            <a:chOff x="0" y="0"/>
            <a:chExt cx="775081" cy="77509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75081" cy="775081"/>
            </a:xfrm>
            <a:custGeom>
              <a:avLst/>
              <a:gdLst/>
              <a:ahLst/>
              <a:cxnLst/>
              <a:rect r="r" b="b" t="t" l="l"/>
              <a:pathLst>
                <a:path h="775081" w="775081">
                  <a:moveTo>
                    <a:pt x="0" y="387604"/>
                  </a:moveTo>
                  <a:cubicBezTo>
                    <a:pt x="0" y="173482"/>
                    <a:pt x="173482" y="0"/>
                    <a:pt x="387477" y="0"/>
                  </a:cubicBezTo>
                  <a:cubicBezTo>
                    <a:pt x="601472" y="0"/>
                    <a:pt x="775081" y="173482"/>
                    <a:pt x="775081" y="387604"/>
                  </a:cubicBezTo>
                  <a:cubicBezTo>
                    <a:pt x="775081" y="601726"/>
                    <a:pt x="601599" y="775081"/>
                    <a:pt x="387477" y="775081"/>
                  </a:cubicBezTo>
                  <a:cubicBezTo>
                    <a:pt x="173355" y="775081"/>
                    <a:pt x="0" y="601599"/>
                    <a:pt x="0" y="387604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15" id="15" descr="preencoded.png"/>
          <p:cNvSpPr/>
          <p:nvPr/>
        </p:nvSpPr>
        <p:spPr>
          <a:xfrm flipH="false" flipV="false" rot="0">
            <a:off x="1409662" y="3041152"/>
            <a:ext cx="261633" cy="261642"/>
          </a:xfrm>
          <a:custGeom>
            <a:avLst/>
            <a:gdLst/>
            <a:ahLst/>
            <a:cxnLst/>
            <a:rect r="r" b="b" t="t" l="l"/>
            <a:pathLst>
              <a:path h="261642" w="261633">
                <a:moveTo>
                  <a:pt x="0" y="0"/>
                </a:moveTo>
                <a:lnTo>
                  <a:pt x="261633" y="0"/>
                </a:lnTo>
                <a:lnTo>
                  <a:pt x="261633" y="261642"/>
                </a:lnTo>
                <a:lnTo>
                  <a:pt x="0" y="2616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0714" t="0" r="-10717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49823" y="3595087"/>
            <a:ext cx="3001489" cy="321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7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Project Structure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49823" y="4020741"/>
            <a:ext cx="3001489" cy="599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Apps, settings, and configuration management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4601204" y="2673401"/>
            <a:ext cx="3417751" cy="2155184"/>
            <a:chOff x="0" y="0"/>
            <a:chExt cx="4557001" cy="287357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556887" cy="2873502"/>
            </a:xfrm>
            <a:custGeom>
              <a:avLst/>
              <a:gdLst/>
              <a:ahLst/>
              <a:cxnLst/>
              <a:rect r="r" b="b" t="t" l="l"/>
              <a:pathLst>
                <a:path h="2873502" w="4556887">
                  <a:moveTo>
                    <a:pt x="0" y="108966"/>
                  </a:moveTo>
                  <a:cubicBezTo>
                    <a:pt x="0" y="48768"/>
                    <a:pt x="48768" y="0"/>
                    <a:pt x="108966" y="0"/>
                  </a:cubicBezTo>
                  <a:lnTo>
                    <a:pt x="4447921" y="0"/>
                  </a:lnTo>
                  <a:cubicBezTo>
                    <a:pt x="4508119" y="0"/>
                    <a:pt x="4556887" y="48768"/>
                    <a:pt x="4556887" y="108966"/>
                  </a:cubicBezTo>
                  <a:lnTo>
                    <a:pt x="4556887" y="2764536"/>
                  </a:lnTo>
                  <a:cubicBezTo>
                    <a:pt x="4556887" y="2824734"/>
                    <a:pt x="4508119" y="2873502"/>
                    <a:pt x="4447921" y="2873502"/>
                  </a:cubicBezTo>
                  <a:lnTo>
                    <a:pt x="108966" y="2873502"/>
                  </a:lnTo>
                  <a:cubicBezTo>
                    <a:pt x="48768" y="2873502"/>
                    <a:pt x="0" y="2824734"/>
                    <a:pt x="0" y="2764536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4809258" y="2881465"/>
            <a:ext cx="581311" cy="581320"/>
            <a:chOff x="0" y="0"/>
            <a:chExt cx="775081" cy="7750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75081" cy="775081"/>
            </a:xfrm>
            <a:custGeom>
              <a:avLst/>
              <a:gdLst/>
              <a:ahLst/>
              <a:cxnLst/>
              <a:rect r="r" b="b" t="t" l="l"/>
              <a:pathLst>
                <a:path h="775081" w="775081">
                  <a:moveTo>
                    <a:pt x="0" y="387604"/>
                  </a:moveTo>
                  <a:cubicBezTo>
                    <a:pt x="0" y="173482"/>
                    <a:pt x="173482" y="0"/>
                    <a:pt x="387477" y="0"/>
                  </a:cubicBezTo>
                  <a:cubicBezTo>
                    <a:pt x="601472" y="0"/>
                    <a:pt x="775081" y="173482"/>
                    <a:pt x="775081" y="387604"/>
                  </a:cubicBezTo>
                  <a:cubicBezTo>
                    <a:pt x="775081" y="601726"/>
                    <a:pt x="601599" y="775081"/>
                    <a:pt x="387477" y="775081"/>
                  </a:cubicBezTo>
                  <a:cubicBezTo>
                    <a:pt x="173355" y="775081"/>
                    <a:pt x="0" y="601599"/>
                    <a:pt x="0" y="387604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22" id="22" descr="preencoded.png"/>
          <p:cNvSpPr/>
          <p:nvPr/>
        </p:nvSpPr>
        <p:spPr>
          <a:xfrm flipH="false" flipV="false" rot="0">
            <a:off x="4969097" y="3041152"/>
            <a:ext cx="261633" cy="261642"/>
          </a:xfrm>
          <a:custGeom>
            <a:avLst/>
            <a:gdLst/>
            <a:ahLst/>
            <a:cxnLst/>
            <a:rect r="r" b="b" t="t" l="l"/>
            <a:pathLst>
              <a:path h="261642" w="261633">
                <a:moveTo>
                  <a:pt x="0" y="0"/>
                </a:moveTo>
                <a:lnTo>
                  <a:pt x="261633" y="0"/>
                </a:lnTo>
                <a:lnTo>
                  <a:pt x="261633" y="261642"/>
                </a:lnTo>
                <a:lnTo>
                  <a:pt x="0" y="26164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7142" r="0" b="-7138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4809258" y="3595087"/>
            <a:ext cx="3001642" cy="321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7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Models &amp; ORM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809258" y="4020741"/>
            <a:ext cx="3001642" cy="599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Database schema definition and object-relational mapping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41768" y="4970412"/>
            <a:ext cx="3417608" cy="2155184"/>
            <a:chOff x="0" y="0"/>
            <a:chExt cx="4556811" cy="287357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556760" cy="2873502"/>
            </a:xfrm>
            <a:custGeom>
              <a:avLst/>
              <a:gdLst/>
              <a:ahLst/>
              <a:cxnLst/>
              <a:rect r="r" b="b" t="t" l="l"/>
              <a:pathLst>
                <a:path h="2873502" w="4556760">
                  <a:moveTo>
                    <a:pt x="0" y="108966"/>
                  </a:moveTo>
                  <a:cubicBezTo>
                    <a:pt x="0" y="48768"/>
                    <a:pt x="48768" y="0"/>
                    <a:pt x="108966" y="0"/>
                  </a:cubicBezTo>
                  <a:lnTo>
                    <a:pt x="4447794" y="0"/>
                  </a:lnTo>
                  <a:cubicBezTo>
                    <a:pt x="4507992" y="0"/>
                    <a:pt x="4556760" y="48768"/>
                    <a:pt x="4556760" y="108966"/>
                  </a:cubicBezTo>
                  <a:lnTo>
                    <a:pt x="4556760" y="2764536"/>
                  </a:lnTo>
                  <a:cubicBezTo>
                    <a:pt x="4556760" y="2824734"/>
                    <a:pt x="4507992" y="2873502"/>
                    <a:pt x="4447794" y="2873502"/>
                  </a:cubicBezTo>
                  <a:lnTo>
                    <a:pt x="108966" y="2873502"/>
                  </a:lnTo>
                  <a:cubicBezTo>
                    <a:pt x="48768" y="2873502"/>
                    <a:pt x="0" y="2824734"/>
                    <a:pt x="0" y="2764536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249823" y="5178476"/>
            <a:ext cx="581311" cy="581320"/>
            <a:chOff x="0" y="0"/>
            <a:chExt cx="775081" cy="77509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75081" cy="775081"/>
            </a:xfrm>
            <a:custGeom>
              <a:avLst/>
              <a:gdLst/>
              <a:ahLst/>
              <a:cxnLst/>
              <a:rect r="r" b="b" t="t" l="l"/>
              <a:pathLst>
                <a:path h="775081" w="775081">
                  <a:moveTo>
                    <a:pt x="0" y="387604"/>
                  </a:moveTo>
                  <a:cubicBezTo>
                    <a:pt x="0" y="173482"/>
                    <a:pt x="173482" y="0"/>
                    <a:pt x="387477" y="0"/>
                  </a:cubicBezTo>
                  <a:cubicBezTo>
                    <a:pt x="601472" y="0"/>
                    <a:pt x="775081" y="173482"/>
                    <a:pt x="775081" y="387604"/>
                  </a:cubicBezTo>
                  <a:cubicBezTo>
                    <a:pt x="775081" y="601726"/>
                    <a:pt x="601599" y="775081"/>
                    <a:pt x="387477" y="775081"/>
                  </a:cubicBezTo>
                  <a:cubicBezTo>
                    <a:pt x="173355" y="775081"/>
                    <a:pt x="0" y="601599"/>
                    <a:pt x="0" y="387604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29" id="29" descr="preencoded.png"/>
          <p:cNvSpPr/>
          <p:nvPr/>
        </p:nvSpPr>
        <p:spPr>
          <a:xfrm flipH="false" flipV="false" rot="0">
            <a:off x="1409662" y="5338162"/>
            <a:ext cx="261633" cy="261642"/>
          </a:xfrm>
          <a:custGeom>
            <a:avLst/>
            <a:gdLst/>
            <a:ahLst/>
            <a:cxnLst/>
            <a:rect r="r" b="b" t="t" l="l"/>
            <a:pathLst>
              <a:path h="261642" w="261633">
                <a:moveTo>
                  <a:pt x="0" y="0"/>
                </a:moveTo>
                <a:lnTo>
                  <a:pt x="261633" y="0"/>
                </a:lnTo>
                <a:lnTo>
                  <a:pt x="261633" y="261643"/>
                </a:lnTo>
                <a:lnTo>
                  <a:pt x="0" y="26164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3571" t="0" r="-3575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1249823" y="5892108"/>
            <a:ext cx="3001489" cy="321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7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Views &amp; Logic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9823" y="6317752"/>
            <a:ext cx="3001489" cy="599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Business logic processing and HTTP request handling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4601204" y="4970412"/>
            <a:ext cx="3417751" cy="2155184"/>
            <a:chOff x="0" y="0"/>
            <a:chExt cx="4557001" cy="287357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556887" cy="2873502"/>
            </a:xfrm>
            <a:custGeom>
              <a:avLst/>
              <a:gdLst/>
              <a:ahLst/>
              <a:cxnLst/>
              <a:rect r="r" b="b" t="t" l="l"/>
              <a:pathLst>
                <a:path h="2873502" w="4556887">
                  <a:moveTo>
                    <a:pt x="0" y="108966"/>
                  </a:moveTo>
                  <a:cubicBezTo>
                    <a:pt x="0" y="48768"/>
                    <a:pt x="48768" y="0"/>
                    <a:pt x="108966" y="0"/>
                  </a:cubicBezTo>
                  <a:lnTo>
                    <a:pt x="4447921" y="0"/>
                  </a:lnTo>
                  <a:cubicBezTo>
                    <a:pt x="4508119" y="0"/>
                    <a:pt x="4556887" y="48768"/>
                    <a:pt x="4556887" y="108966"/>
                  </a:cubicBezTo>
                  <a:lnTo>
                    <a:pt x="4556887" y="2764536"/>
                  </a:lnTo>
                  <a:cubicBezTo>
                    <a:pt x="4556887" y="2824734"/>
                    <a:pt x="4508119" y="2873502"/>
                    <a:pt x="4447921" y="2873502"/>
                  </a:cubicBezTo>
                  <a:lnTo>
                    <a:pt x="108966" y="2873502"/>
                  </a:lnTo>
                  <a:cubicBezTo>
                    <a:pt x="48768" y="2873502"/>
                    <a:pt x="0" y="2824734"/>
                    <a:pt x="0" y="2764536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4809258" y="5178476"/>
            <a:ext cx="581311" cy="581320"/>
            <a:chOff x="0" y="0"/>
            <a:chExt cx="775081" cy="77509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75081" cy="775081"/>
            </a:xfrm>
            <a:custGeom>
              <a:avLst/>
              <a:gdLst/>
              <a:ahLst/>
              <a:cxnLst/>
              <a:rect r="r" b="b" t="t" l="l"/>
              <a:pathLst>
                <a:path h="775081" w="775081">
                  <a:moveTo>
                    <a:pt x="0" y="387604"/>
                  </a:moveTo>
                  <a:cubicBezTo>
                    <a:pt x="0" y="173482"/>
                    <a:pt x="173482" y="0"/>
                    <a:pt x="387477" y="0"/>
                  </a:cubicBezTo>
                  <a:cubicBezTo>
                    <a:pt x="601472" y="0"/>
                    <a:pt x="775081" y="173482"/>
                    <a:pt x="775081" y="387604"/>
                  </a:cubicBezTo>
                  <a:cubicBezTo>
                    <a:pt x="775081" y="601726"/>
                    <a:pt x="601599" y="775081"/>
                    <a:pt x="387477" y="775081"/>
                  </a:cubicBezTo>
                  <a:cubicBezTo>
                    <a:pt x="173355" y="775081"/>
                    <a:pt x="0" y="601599"/>
                    <a:pt x="0" y="387604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36" id="36" descr="preencoded.png"/>
          <p:cNvSpPr/>
          <p:nvPr/>
        </p:nvSpPr>
        <p:spPr>
          <a:xfrm flipH="false" flipV="false" rot="0">
            <a:off x="4969097" y="5338162"/>
            <a:ext cx="261633" cy="261642"/>
          </a:xfrm>
          <a:custGeom>
            <a:avLst/>
            <a:gdLst/>
            <a:ahLst/>
            <a:cxnLst/>
            <a:rect r="r" b="b" t="t" l="l"/>
            <a:pathLst>
              <a:path h="261642" w="261633">
                <a:moveTo>
                  <a:pt x="0" y="0"/>
                </a:moveTo>
                <a:lnTo>
                  <a:pt x="261633" y="0"/>
                </a:lnTo>
                <a:lnTo>
                  <a:pt x="261633" y="261643"/>
                </a:lnTo>
                <a:lnTo>
                  <a:pt x="0" y="26164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8926" r="0" b="-8926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4809258" y="5892108"/>
            <a:ext cx="3001642" cy="321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7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Templates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4809258" y="6317752"/>
            <a:ext cx="3001642" cy="599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HTML rendering with dynamic content injection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41768" y="7267423"/>
            <a:ext cx="3417608" cy="2155184"/>
            <a:chOff x="0" y="0"/>
            <a:chExt cx="4556811" cy="287357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556760" cy="2873502"/>
            </a:xfrm>
            <a:custGeom>
              <a:avLst/>
              <a:gdLst/>
              <a:ahLst/>
              <a:cxnLst/>
              <a:rect r="r" b="b" t="t" l="l"/>
              <a:pathLst>
                <a:path h="2873502" w="4556760">
                  <a:moveTo>
                    <a:pt x="0" y="108966"/>
                  </a:moveTo>
                  <a:cubicBezTo>
                    <a:pt x="0" y="48768"/>
                    <a:pt x="48768" y="0"/>
                    <a:pt x="108966" y="0"/>
                  </a:cubicBezTo>
                  <a:lnTo>
                    <a:pt x="4447794" y="0"/>
                  </a:lnTo>
                  <a:cubicBezTo>
                    <a:pt x="4507992" y="0"/>
                    <a:pt x="4556760" y="48768"/>
                    <a:pt x="4556760" y="108966"/>
                  </a:cubicBezTo>
                  <a:lnTo>
                    <a:pt x="4556760" y="2764536"/>
                  </a:lnTo>
                  <a:cubicBezTo>
                    <a:pt x="4556760" y="2824734"/>
                    <a:pt x="4507992" y="2873502"/>
                    <a:pt x="4447794" y="2873502"/>
                  </a:cubicBezTo>
                  <a:lnTo>
                    <a:pt x="108966" y="2873502"/>
                  </a:lnTo>
                  <a:cubicBezTo>
                    <a:pt x="48768" y="2873502"/>
                    <a:pt x="0" y="2824734"/>
                    <a:pt x="0" y="2764536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249823" y="7475487"/>
            <a:ext cx="581311" cy="581320"/>
            <a:chOff x="0" y="0"/>
            <a:chExt cx="775081" cy="77509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75081" cy="775081"/>
            </a:xfrm>
            <a:custGeom>
              <a:avLst/>
              <a:gdLst/>
              <a:ahLst/>
              <a:cxnLst/>
              <a:rect r="r" b="b" t="t" l="l"/>
              <a:pathLst>
                <a:path h="775081" w="775081">
                  <a:moveTo>
                    <a:pt x="0" y="387604"/>
                  </a:moveTo>
                  <a:cubicBezTo>
                    <a:pt x="0" y="173482"/>
                    <a:pt x="173482" y="0"/>
                    <a:pt x="387477" y="0"/>
                  </a:cubicBezTo>
                  <a:cubicBezTo>
                    <a:pt x="601472" y="0"/>
                    <a:pt x="775081" y="173482"/>
                    <a:pt x="775081" y="387604"/>
                  </a:cubicBezTo>
                  <a:cubicBezTo>
                    <a:pt x="775081" y="601726"/>
                    <a:pt x="601599" y="775081"/>
                    <a:pt x="387477" y="775081"/>
                  </a:cubicBezTo>
                  <a:cubicBezTo>
                    <a:pt x="173355" y="775081"/>
                    <a:pt x="0" y="601599"/>
                    <a:pt x="0" y="387604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43" id="43" descr="preencoded.png"/>
          <p:cNvSpPr/>
          <p:nvPr/>
        </p:nvSpPr>
        <p:spPr>
          <a:xfrm flipH="false" flipV="false" rot="0">
            <a:off x="1409662" y="7635183"/>
            <a:ext cx="261633" cy="261642"/>
          </a:xfrm>
          <a:custGeom>
            <a:avLst/>
            <a:gdLst/>
            <a:ahLst/>
            <a:cxnLst/>
            <a:rect r="r" b="b" t="t" l="l"/>
            <a:pathLst>
              <a:path h="261642" w="261633">
                <a:moveTo>
                  <a:pt x="0" y="0"/>
                </a:moveTo>
                <a:lnTo>
                  <a:pt x="261633" y="0"/>
                </a:lnTo>
                <a:lnTo>
                  <a:pt x="261633" y="261642"/>
                </a:lnTo>
                <a:lnTo>
                  <a:pt x="0" y="26164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1" t="0" r="-2" b="0"/>
            </a:stretch>
          </a:blipFill>
        </p:spPr>
      </p:sp>
      <p:sp>
        <p:nvSpPr>
          <p:cNvPr name="TextBox 44" id="44"/>
          <p:cNvSpPr txBox="true"/>
          <p:nvPr/>
        </p:nvSpPr>
        <p:spPr>
          <a:xfrm rot="0">
            <a:off x="1249823" y="8189119"/>
            <a:ext cx="3001489" cy="321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7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URL Routing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49823" y="8614762"/>
            <a:ext cx="3001489" cy="599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Mapping incoming requests to appropriate view functions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4601204" y="7267423"/>
            <a:ext cx="3417751" cy="2155184"/>
            <a:chOff x="0" y="0"/>
            <a:chExt cx="4557001" cy="287357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556887" cy="2873502"/>
            </a:xfrm>
            <a:custGeom>
              <a:avLst/>
              <a:gdLst/>
              <a:ahLst/>
              <a:cxnLst/>
              <a:rect r="r" b="b" t="t" l="l"/>
              <a:pathLst>
                <a:path h="2873502" w="4556887">
                  <a:moveTo>
                    <a:pt x="0" y="108966"/>
                  </a:moveTo>
                  <a:cubicBezTo>
                    <a:pt x="0" y="48768"/>
                    <a:pt x="48768" y="0"/>
                    <a:pt x="108966" y="0"/>
                  </a:cubicBezTo>
                  <a:lnTo>
                    <a:pt x="4447921" y="0"/>
                  </a:lnTo>
                  <a:cubicBezTo>
                    <a:pt x="4508119" y="0"/>
                    <a:pt x="4556887" y="48768"/>
                    <a:pt x="4556887" y="108966"/>
                  </a:cubicBezTo>
                  <a:lnTo>
                    <a:pt x="4556887" y="2764536"/>
                  </a:lnTo>
                  <a:cubicBezTo>
                    <a:pt x="4556887" y="2824734"/>
                    <a:pt x="4508119" y="2873502"/>
                    <a:pt x="4447921" y="2873502"/>
                  </a:cubicBezTo>
                  <a:lnTo>
                    <a:pt x="108966" y="2873502"/>
                  </a:lnTo>
                  <a:cubicBezTo>
                    <a:pt x="48768" y="2873502"/>
                    <a:pt x="0" y="2824734"/>
                    <a:pt x="0" y="2764536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4809258" y="7475487"/>
            <a:ext cx="581311" cy="581320"/>
            <a:chOff x="0" y="0"/>
            <a:chExt cx="775081" cy="77509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75081" cy="775081"/>
            </a:xfrm>
            <a:custGeom>
              <a:avLst/>
              <a:gdLst/>
              <a:ahLst/>
              <a:cxnLst/>
              <a:rect r="r" b="b" t="t" l="l"/>
              <a:pathLst>
                <a:path h="775081" w="775081">
                  <a:moveTo>
                    <a:pt x="0" y="387604"/>
                  </a:moveTo>
                  <a:cubicBezTo>
                    <a:pt x="0" y="173482"/>
                    <a:pt x="173482" y="0"/>
                    <a:pt x="387477" y="0"/>
                  </a:cubicBezTo>
                  <a:cubicBezTo>
                    <a:pt x="601472" y="0"/>
                    <a:pt x="775081" y="173482"/>
                    <a:pt x="775081" y="387604"/>
                  </a:cubicBezTo>
                  <a:cubicBezTo>
                    <a:pt x="775081" y="601726"/>
                    <a:pt x="601599" y="775081"/>
                    <a:pt x="387477" y="775081"/>
                  </a:cubicBezTo>
                  <a:cubicBezTo>
                    <a:pt x="173355" y="775081"/>
                    <a:pt x="0" y="601599"/>
                    <a:pt x="0" y="387604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50" id="50" descr="preencoded.png"/>
          <p:cNvSpPr/>
          <p:nvPr/>
        </p:nvSpPr>
        <p:spPr>
          <a:xfrm flipH="false" flipV="false" rot="0">
            <a:off x="4969097" y="7635183"/>
            <a:ext cx="261633" cy="261642"/>
          </a:xfrm>
          <a:custGeom>
            <a:avLst/>
            <a:gdLst/>
            <a:ahLst/>
            <a:cxnLst/>
            <a:rect r="r" b="b" t="t" l="l"/>
            <a:pathLst>
              <a:path h="261642" w="261633">
                <a:moveTo>
                  <a:pt x="0" y="0"/>
                </a:moveTo>
                <a:lnTo>
                  <a:pt x="261633" y="0"/>
                </a:lnTo>
                <a:lnTo>
                  <a:pt x="261633" y="261642"/>
                </a:lnTo>
                <a:lnTo>
                  <a:pt x="0" y="26164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-1" t="0" r="-2" b="0"/>
            </a:stretch>
          </a:blipFill>
        </p:spPr>
      </p:sp>
      <p:sp>
        <p:nvSpPr>
          <p:cNvPr name="TextBox 51" id="51"/>
          <p:cNvSpPr txBox="true"/>
          <p:nvPr/>
        </p:nvSpPr>
        <p:spPr>
          <a:xfrm rot="0">
            <a:off x="4809258" y="8189119"/>
            <a:ext cx="3001642" cy="321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75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Authentication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4809258" y="8614762"/>
            <a:ext cx="3001642" cy="599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5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Built-in user management, sessions, and security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550707" y="2185988"/>
            <a:ext cx="8753999" cy="321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8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Django Request–Response Lifecycle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8550707" y="2678163"/>
            <a:ext cx="8753999" cy="3939330"/>
            <a:chOff x="0" y="0"/>
            <a:chExt cx="11671998" cy="5252441"/>
          </a:xfrm>
        </p:grpSpPr>
        <p:sp>
          <p:nvSpPr>
            <p:cNvPr name="Freeform 55" id="55" descr="preencoded.png"/>
            <p:cNvSpPr/>
            <p:nvPr/>
          </p:nvSpPr>
          <p:spPr>
            <a:xfrm flipH="false" flipV="false" rot="0">
              <a:off x="0" y="0"/>
              <a:ext cx="11672062" cy="5252466"/>
            </a:xfrm>
            <a:custGeom>
              <a:avLst/>
              <a:gdLst/>
              <a:ahLst/>
              <a:cxnLst/>
              <a:rect r="r" b="b" t="t" l="l"/>
              <a:pathLst>
                <a:path h="5252466" w="11672062">
                  <a:moveTo>
                    <a:pt x="0" y="0"/>
                  </a:moveTo>
                  <a:lnTo>
                    <a:pt x="11672062" y="0"/>
                  </a:lnTo>
                  <a:lnTo>
                    <a:pt x="11672062" y="5252466"/>
                  </a:lnTo>
                  <a:lnTo>
                    <a:pt x="0" y="52524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TextBox 56" id="56"/>
          <p:cNvSpPr txBox="true"/>
          <p:nvPr/>
        </p:nvSpPr>
        <p:spPr>
          <a:xfrm rot="0">
            <a:off x="9869386" y="2853033"/>
            <a:ext cx="1531925" cy="246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8"/>
              </a:lnSpc>
            </a:pPr>
            <a:r>
              <a:rPr lang="en-US" sz="14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User Request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869386" y="3166634"/>
            <a:ext cx="1531925" cy="337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5"/>
              </a:lnSpc>
            </a:pPr>
            <a:r>
              <a:rPr lang="en-US" sz="11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Client sends HTTP request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1384470" y="5891832"/>
            <a:ext cx="1540345" cy="246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8"/>
              </a:lnSpc>
            </a:pPr>
            <a:r>
              <a:rPr lang="en-US" sz="14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URL Routing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1384470" y="6205433"/>
            <a:ext cx="1540345" cy="168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5"/>
              </a:lnSpc>
            </a:pPr>
            <a:r>
              <a:rPr lang="en-US" sz="11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Resolve URL to view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12882724" y="2907878"/>
            <a:ext cx="1531925" cy="246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8"/>
              </a:lnSpc>
            </a:pPr>
            <a:r>
              <a:rPr lang="en-US" sz="14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View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12882724" y="3221479"/>
            <a:ext cx="1531925" cy="168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5"/>
              </a:lnSpc>
            </a:pPr>
            <a:r>
              <a:rPr lang="en-US" sz="11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Process request logic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4397819" y="5807526"/>
            <a:ext cx="1531925" cy="246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8"/>
              </a:lnSpc>
            </a:pPr>
            <a:r>
              <a:rPr lang="en-US" sz="14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Model &amp; DB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4397819" y="6121127"/>
            <a:ext cx="1531925" cy="337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5"/>
              </a:lnSpc>
            </a:pPr>
            <a:r>
              <a:rPr lang="en-US" sz="11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Query or update database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8550707" y="6740128"/>
            <a:ext cx="8753999" cy="599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2"/>
              </a:lnSpc>
            </a:pPr>
            <a:r>
              <a:rPr lang="en-US" sz="15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Every web request travels through Django's MVT (Model–View–Template) pipeline, ensuring clean separation of concerns between data, logic, and presentation layers.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752627"/>
            <a:ext cx="16303114" cy="622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86"/>
              </a:lnSpc>
            </a:pPr>
            <a:r>
              <a:rPr lang="en-US" sz="36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SQL &amp; MySQL Database Management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1627432"/>
            <a:ext cx="16303114" cy="574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Relational databases underpin every full stack application. The curriculum covers schema design, core SQL operations, and seamless integration with Django's ORM for efficient data management.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2210" y="2491826"/>
            <a:ext cx="7919837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Core Concepts &amp; SQL Operations</a:t>
            </a:r>
          </a:p>
        </p:txBody>
      </p:sp>
      <p:sp>
        <p:nvSpPr>
          <p:cNvPr name="Freeform 9" id="9" descr="preencoded.png"/>
          <p:cNvSpPr/>
          <p:nvPr/>
        </p:nvSpPr>
        <p:spPr>
          <a:xfrm flipH="false" flipV="false" rot="0">
            <a:off x="992210" y="2971057"/>
            <a:ext cx="3887143" cy="1664494"/>
          </a:xfrm>
          <a:custGeom>
            <a:avLst/>
            <a:gdLst/>
            <a:ahLst/>
            <a:cxnLst/>
            <a:rect r="r" b="b" t="t" l="l"/>
            <a:pathLst>
              <a:path h="1664494" w="3887143">
                <a:moveTo>
                  <a:pt x="0" y="0"/>
                </a:moveTo>
                <a:lnTo>
                  <a:pt x="3887143" y="0"/>
                </a:lnTo>
                <a:lnTo>
                  <a:pt x="3887143" y="1664494"/>
                </a:lnTo>
                <a:lnTo>
                  <a:pt x="0" y="166449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38" t="0" r="-38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277360" y="3160957"/>
            <a:ext cx="3393053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Relational Databases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77360" y="3583934"/>
            <a:ext cx="3393053" cy="574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Tables, relationships, primary/foreign keys, and normalization principles</a:t>
            </a:r>
          </a:p>
        </p:txBody>
      </p:sp>
      <p:sp>
        <p:nvSpPr>
          <p:cNvPr name="Freeform 12" id="12" descr="preencoded.png"/>
          <p:cNvSpPr/>
          <p:nvPr/>
        </p:nvSpPr>
        <p:spPr>
          <a:xfrm flipH="false" flipV="false" rot="0">
            <a:off x="5024761" y="2971057"/>
            <a:ext cx="3887295" cy="1664494"/>
          </a:xfrm>
          <a:custGeom>
            <a:avLst/>
            <a:gdLst/>
            <a:ahLst/>
            <a:cxnLst/>
            <a:rect r="r" b="b" t="t" l="l"/>
            <a:pathLst>
              <a:path h="1664494" w="3887295">
                <a:moveTo>
                  <a:pt x="0" y="0"/>
                </a:moveTo>
                <a:lnTo>
                  <a:pt x="3887296" y="0"/>
                </a:lnTo>
                <a:lnTo>
                  <a:pt x="3887296" y="1664494"/>
                </a:lnTo>
                <a:lnTo>
                  <a:pt x="0" y="166449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36" t="0" r="-36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309902" y="3160957"/>
            <a:ext cx="3393196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SQL Queries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309902" y="3583934"/>
            <a:ext cx="3393196" cy="842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SELECT, INSERT, UPDATE, DELETE — the four foundational data manipulation statements</a:t>
            </a:r>
          </a:p>
        </p:txBody>
      </p:sp>
      <p:sp>
        <p:nvSpPr>
          <p:cNvPr name="Freeform 15" id="15" descr="preencoded.png"/>
          <p:cNvSpPr/>
          <p:nvPr/>
        </p:nvSpPr>
        <p:spPr>
          <a:xfrm flipH="false" flipV="false" rot="0">
            <a:off x="992210" y="4780950"/>
            <a:ext cx="3887143" cy="1396308"/>
          </a:xfrm>
          <a:custGeom>
            <a:avLst/>
            <a:gdLst/>
            <a:ahLst/>
            <a:cxnLst/>
            <a:rect r="r" b="b" t="t" l="l"/>
            <a:pathLst>
              <a:path h="1396308" w="3887143">
                <a:moveTo>
                  <a:pt x="0" y="0"/>
                </a:moveTo>
                <a:lnTo>
                  <a:pt x="3887143" y="0"/>
                </a:lnTo>
                <a:lnTo>
                  <a:pt x="3887143" y="1396308"/>
                </a:lnTo>
                <a:lnTo>
                  <a:pt x="0" y="1396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27" r="0" b="-27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77360" y="4970859"/>
            <a:ext cx="3393053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Database Design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77360" y="5393827"/>
            <a:ext cx="3393053" cy="574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Schema design, data integrity constraints, and relational modelling</a:t>
            </a:r>
          </a:p>
        </p:txBody>
      </p:sp>
      <p:sp>
        <p:nvSpPr>
          <p:cNvPr name="Freeform 18" id="18" descr="preencoded.png"/>
          <p:cNvSpPr/>
          <p:nvPr/>
        </p:nvSpPr>
        <p:spPr>
          <a:xfrm flipH="false" flipV="false" rot="0">
            <a:off x="5024761" y="4780950"/>
            <a:ext cx="3887295" cy="1396308"/>
          </a:xfrm>
          <a:custGeom>
            <a:avLst/>
            <a:gdLst/>
            <a:ahLst/>
            <a:cxnLst/>
            <a:rect r="r" b="b" t="t" l="l"/>
            <a:pathLst>
              <a:path h="1396308" w="3887295">
                <a:moveTo>
                  <a:pt x="0" y="0"/>
                </a:moveTo>
                <a:lnTo>
                  <a:pt x="3887296" y="0"/>
                </a:lnTo>
                <a:lnTo>
                  <a:pt x="3887296" y="1396308"/>
                </a:lnTo>
                <a:lnTo>
                  <a:pt x="0" y="13963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30" r="0" b="-3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5309902" y="4970859"/>
            <a:ext cx="3393196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Data Retrieval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309902" y="5393827"/>
            <a:ext cx="3393196" cy="574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Filtering with WHERE, sorting with ORDER BY, and joining multiple tables</a:t>
            </a:r>
          </a:p>
        </p:txBody>
      </p:sp>
      <p:sp>
        <p:nvSpPr>
          <p:cNvPr name="Freeform 21" id="21" descr="preencoded.png"/>
          <p:cNvSpPr/>
          <p:nvPr/>
        </p:nvSpPr>
        <p:spPr>
          <a:xfrm flipH="false" flipV="false" rot="0">
            <a:off x="992210" y="6322666"/>
            <a:ext cx="3887143" cy="1664494"/>
          </a:xfrm>
          <a:custGeom>
            <a:avLst/>
            <a:gdLst/>
            <a:ahLst/>
            <a:cxnLst/>
            <a:rect r="r" b="b" t="t" l="l"/>
            <a:pathLst>
              <a:path h="1664494" w="3887143">
                <a:moveTo>
                  <a:pt x="0" y="0"/>
                </a:moveTo>
                <a:lnTo>
                  <a:pt x="3887143" y="0"/>
                </a:lnTo>
                <a:lnTo>
                  <a:pt x="3887143" y="1664494"/>
                </a:lnTo>
                <a:lnTo>
                  <a:pt x="0" y="166449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38" t="0" r="-38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77360" y="6512566"/>
            <a:ext cx="3393053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Django ORM Integration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77360" y="6935543"/>
            <a:ext cx="3393053" cy="842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Interacting with MySQL through Django's ORM — abstracted, Pythonic database access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385011" y="2491826"/>
            <a:ext cx="7919837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CRUD Operations — The Data Lifecycle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380249" y="2966295"/>
            <a:ext cx="7929362" cy="4388644"/>
            <a:chOff x="0" y="0"/>
            <a:chExt cx="10572483" cy="585152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572369" cy="5851525"/>
            </a:xfrm>
            <a:custGeom>
              <a:avLst/>
              <a:gdLst/>
              <a:ahLst/>
              <a:cxnLst/>
              <a:rect r="r" b="b" t="t" l="l"/>
              <a:pathLst>
                <a:path h="5851525" w="10572369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0465816" y="0"/>
                  </a:lnTo>
                  <a:cubicBezTo>
                    <a:pt x="10524744" y="0"/>
                    <a:pt x="10572369" y="47752"/>
                    <a:pt x="10572369" y="106553"/>
                  </a:cubicBezTo>
                  <a:lnTo>
                    <a:pt x="10572369" y="5744972"/>
                  </a:lnTo>
                  <a:cubicBezTo>
                    <a:pt x="10572369" y="5803900"/>
                    <a:pt x="10524617" y="5851525"/>
                    <a:pt x="10465816" y="5851525"/>
                  </a:cubicBezTo>
                  <a:lnTo>
                    <a:pt x="106553" y="5851525"/>
                  </a:lnTo>
                  <a:cubicBezTo>
                    <a:pt x="47625" y="5851525"/>
                    <a:pt x="0" y="5803773"/>
                    <a:pt x="0" y="5744972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9394536" y="2980582"/>
            <a:ext cx="7900787" cy="1090012"/>
            <a:chOff x="0" y="0"/>
            <a:chExt cx="10534383" cy="145335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534396" cy="1453388"/>
            </a:xfrm>
            <a:custGeom>
              <a:avLst/>
              <a:gdLst/>
              <a:ahLst/>
              <a:cxnLst/>
              <a:rect r="r" b="b" t="t" l="l"/>
              <a:pathLst>
                <a:path h="1453388" w="10534396">
                  <a:moveTo>
                    <a:pt x="88646" y="0"/>
                  </a:moveTo>
                  <a:lnTo>
                    <a:pt x="10445750" y="0"/>
                  </a:lnTo>
                  <a:cubicBezTo>
                    <a:pt x="10494645" y="0"/>
                    <a:pt x="10534396" y="39624"/>
                    <a:pt x="10534396" y="88646"/>
                  </a:cubicBezTo>
                  <a:lnTo>
                    <a:pt x="10534396" y="1453388"/>
                  </a:lnTo>
                  <a:lnTo>
                    <a:pt x="0" y="1453388"/>
                  </a:lnTo>
                  <a:lnTo>
                    <a:pt x="0" y="88646"/>
                  </a:lnTo>
                  <a:cubicBezTo>
                    <a:pt x="0" y="39624"/>
                    <a:pt x="39624" y="0"/>
                    <a:pt x="88646" y="0"/>
                  </a:cubicBezTo>
                  <a:close/>
                </a:path>
              </a:pathLst>
            </a:custGeom>
            <a:solidFill>
              <a:srgbClr val="E1E1EA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9584436" y="3151432"/>
            <a:ext cx="7520988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CREATE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584436" y="3574409"/>
            <a:ext cx="7520988" cy="3062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INSERT new records into tables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394536" y="4070594"/>
            <a:ext cx="7900787" cy="1090012"/>
            <a:chOff x="0" y="0"/>
            <a:chExt cx="10534383" cy="145335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534396" cy="1453388"/>
            </a:xfrm>
            <a:custGeom>
              <a:avLst/>
              <a:gdLst/>
              <a:ahLst/>
              <a:cxnLst/>
              <a:rect r="r" b="b" t="t" l="l"/>
              <a:pathLst>
                <a:path h="1453388" w="10534396">
                  <a:moveTo>
                    <a:pt x="0" y="0"/>
                  </a:moveTo>
                  <a:lnTo>
                    <a:pt x="10534396" y="0"/>
                  </a:lnTo>
                  <a:lnTo>
                    <a:pt x="10534396" y="1453388"/>
                  </a:lnTo>
                  <a:lnTo>
                    <a:pt x="0" y="1453388"/>
                  </a:lnTo>
                  <a:close/>
                </a:path>
              </a:pathLst>
            </a:custGeom>
            <a:solidFill>
              <a:srgbClr val="E1E1EA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394536" y="4070594"/>
            <a:ext cx="7900787" cy="19050"/>
            <a:chOff x="0" y="0"/>
            <a:chExt cx="10534383" cy="25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534396" cy="25400"/>
            </a:xfrm>
            <a:custGeom>
              <a:avLst/>
              <a:gdLst/>
              <a:ahLst/>
              <a:cxnLst/>
              <a:rect r="r" b="b" t="t" l="l"/>
              <a:pathLst>
                <a:path h="25400" w="10534396">
                  <a:moveTo>
                    <a:pt x="0" y="12700"/>
                  </a:moveTo>
                  <a:cubicBezTo>
                    <a:pt x="0" y="5715"/>
                    <a:pt x="5715" y="0"/>
                    <a:pt x="12700" y="0"/>
                  </a:cubicBezTo>
                  <a:lnTo>
                    <a:pt x="10521696" y="0"/>
                  </a:lnTo>
                  <a:cubicBezTo>
                    <a:pt x="10528681" y="0"/>
                    <a:pt x="10534396" y="5715"/>
                    <a:pt x="10534396" y="12700"/>
                  </a:cubicBezTo>
                  <a:cubicBezTo>
                    <a:pt x="10534396" y="19685"/>
                    <a:pt x="10528681" y="25400"/>
                    <a:pt x="10521696" y="25400"/>
                  </a:cubicBezTo>
                  <a:lnTo>
                    <a:pt x="12700" y="25400"/>
                  </a:lnTo>
                  <a:cubicBezTo>
                    <a:pt x="5715" y="25400"/>
                    <a:pt x="0" y="19685"/>
                    <a:pt x="0" y="12700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9584436" y="4241454"/>
            <a:ext cx="7520988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READ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584436" y="4664421"/>
            <a:ext cx="7520988" cy="3062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SELECT and retrieve stored data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9394536" y="5160616"/>
            <a:ext cx="7900787" cy="1090012"/>
            <a:chOff x="0" y="0"/>
            <a:chExt cx="10534383" cy="145335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534396" cy="1453388"/>
            </a:xfrm>
            <a:custGeom>
              <a:avLst/>
              <a:gdLst/>
              <a:ahLst/>
              <a:cxnLst/>
              <a:rect r="r" b="b" t="t" l="l"/>
              <a:pathLst>
                <a:path h="1453388" w="10534396">
                  <a:moveTo>
                    <a:pt x="0" y="0"/>
                  </a:moveTo>
                  <a:lnTo>
                    <a:pt x="10534396" y="0"/>
                  </a:lnTo>
                  <a:lnTo>
                    <a:pt x="10534396" y="1453388"/>
                  </a:lnTo>
                  <a:lnTo>
                    <a:pt x="0" y="1453388"/>
                  </a:lnTo>
                  <a:close/>
                </a:path>
              </a:pathLst>
            </a:custGeom>
            <a:solidFill>
              <a:srgbClr val="E1E1EA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9394536" y="5160616"/>
            <a:ext cx="7900787" cy="19050"/>
            <a:chOff x="0" y="0"/>
            <a:chExt cx="10534383" cy="254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534396" cy="25400"/>
            </a:xfrm>
            <a:custGeom>
              <a:avLst/>
              <a:gdLst/>
              <a:ahLst/>
              <a:cxnLst/>
              <a:rect r="r" b="b" t="t" l="l"/>
              <a:pathLst>
                <a:path h="25400" w="10534396">
                  <a:moveTo>
                    <a:pt x="0" y="12700"/>
                  </a:moveTo>
                  <a:cubicBezTo>
                    <a:pt x="0" y="5715"/>
                    <a:pt x="5715" y="0"/>
                    <a:pt x="12700" y="0"/>
                  </a:cubicBezTo>
                  <a:lnTo>
                    <a:pt x="10521696" y="0"/>
                  </a:lnTo>
                  <a:cubicBezTo>
                    <a:pt x="10528681" y="0"/>
                    <a:pt x="10534396" y="5715"/>
                    <a:pt x="10534396" y="12700"/>
                  </a:cubicBezTo>
                  <a:cubicBezTo>
                    <a:pt x="10534396" y="19685"/>
                    <a:pt x="10528681" y="25400"/>
                    <a:pt x="10521696" y="25400"/>
                  </a:cubicBezTo>
                  <a:lnTo>
                    <a:pt x="12700" y="25400"/>
                  </a:lnTo>
                  <a:cubicBezTo>
                    <a:pt x="5715" y="25400"/>
                    <a:pt x="0" y="19685"/>
                    <a:pt x="0" y="12700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9584436" y="5331466"/>
            <a:ext cx="7520988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UPDATE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584436" y="5754443"/>
            <a:ext cx="7520988" cy="3062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Modify existing records in place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9394536" y="6250629"/>
            <a:ext cx="7900787" cy="1090012"/>
            <a:chOff x="0" y="0"/>
            <a:chExt cx="10534383" cy="145335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534396" cy="1453388"/>
            </a:xfrm>
            <a:custGeom>
              <a:avLst/>
              <a:gdLst/>
              <a:ahLst/>
              <a:cxnLst/>
              <a:rect r="r" b="b" t="t" l="l"/>
              <a:pathLst>
                <a:path h="1453388" w="10534396">
                  <a:moveTo>
                    <a:pt x="0" y="0"/>
                  </a:moveTo>
                  <a:lnTo>
                    <a:pt x="10534396" y="0"/>
                  </a:lnTo>
                  <a:lnTo>
                    <a:pt x="10534396" y="1364742"/>
                  </a:lnTo>
                  <a:cubicBezTo>
                    <a:pt x="10534396" y="1413637"/>
                    <a:pt x="10494772" y="1453388"/>
                    <a:pt x="10445750" y="1453388"/>
                  </a:cubicBezTo>
                  <a:lnTo>
                    <a:pt x="88646" y="1453388"/>
                  </a:lnTo>
                  <a:cubicBezTo>
                    <a:pt x="39751" y="1453388"/>
                    <a:pt x="0" y="1413764"/>
                    <a:pt x="0" y="136474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E1E1EA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9394536" y="6250629"/>
            <a:ext cx="7900787" cy="19050"/>
            <a:chOff x="0" y="0"/>
            <a:chExt cx="10534383" cy="254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534396" cy="25400"/>
            </a:xfrm>
            <a:custGeom>
              <a:avLst/>
              <a:gdLst/>
              <a:ahLst/>
              <a:cxnLst/>
              <a:rect r="r" b="b" t="t" l="l"/>
              <a:pathLst>
                <a:path h="25400" w="10534396">
                  <a:moveTo>
                    <a:pt x="0" y="12700"/>
                  </a:moveTo>
                  <a:cubicBezTo>
                    <a:pt x="0" y="5715"/>
                    <a:pt x="5715" y="0"/>
                    <a:pt x="12700" y="0"/>
                  </a:cubicBezTo>
                  <a:lnTo>
                    <a:pt x="10521696" y="0"/>
                  </a:lnTo>
                  <a:cubicBezTo>
                    <a:pt x="10528681" y="0"/>
                    <a:pt x="10534396" y="5715"/>
                    <a:pt x="10534396" y="12700"/>
                  </a:cubicBezTo>
                  <a:cubicBezTo>
                    <a:pt x="10534396" y="19685"/>
                    <a:pt x="10528681" y="25400"/>
                    <a:pt x="10521696" y="25400"/>
                  </a:cubicBezTo>
                  <a:lnTo>
                    <a:pt x="12700" y="25400"/>
                  </a:lnTo>
                  <a:cubicBezTo>
                    <a:pt x="5715" y="25400"/>
                    <a:pt x="0" y="19685"/>
                    <a:pt x="0" y="12700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sp>
        <p:nvSpPr>
          <p:cNvPr name="TextBox 47" id="47"/>
          <p:cNvSpPr txBox="true"/>
          <p:nvPr/>
        </p:nvSpPr>
        <p:spPr>
          <a:xfrm rot="0">
            <a:off x="9584436" y="6421488"/>
            <a:ext cx="7520988" cy="315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6"/>
              </a:lnSpc>
            </a:pPr>
            <a:r>
              <a:rPr lang="en-US" sz="18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DELETE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9584436" y="6844455"/>
            <a:ext cx="7520988" cy="3062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Remove records from the database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9385011" y="7513739"/>
            <a:ext cx="7919837" cy="892969"/>
            <a:chOff x="0" y="0"/>
            <a:chExt cx="10559783" cy="1190625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0559796" cy="1190752"/>
            </a:xfrm>
            <a:custGeom>
              <a:avLst/>
              <a:gdLst/>
              <a:ahLst/>
              <a:cxnLst/>
              <a:rect r="r" b="b" t="t" l="l"/>
              <a:pathLst>
                <a:path h="1190752" w="10559796">
                  <a:moveTo>
                    <a:pt x="0" y="106426"/>
                  </a:moveTo>
                  <a:cubicBezTo>
                    <a:pt x="0" y="47625"/>
                    <a:pt x="47625" y="0"/>
                    <a:pt x="106426" y="0"/>
                  </a:cubicBezTo>
                  <a:lnTo>
                    <a:pt x="10453370" y="0"/>
                  </a:lnTo>
                  <a:cubicBezTo>
                    <a:pt x="10512171" y="0"/>
                    <a:pt x="10559796" y="47625"/>
                    <a:pt x="10559796" y="106426"/>
                  </a:cubicBezTo>
                  <a:lnTo>
                    <a:pt x="10559796" y="1084326"/>
                  </a:lnTo>
                  <a:cubicBezTo>
                    <a:pt x="10559796" y="1143127"/>
                    <a:pt x="10512171" y="1190752"/>
                    <a:pt x="10453370" y="1190752"/>
                  </a:cubicBezTo>
                  <a:lnTo>
                    <a:pt x="106426" y="1190752"/>
                  </a:lnTo>
                  <a:cubicBezTo>
                    <a:pt x="47625" y="1190625"/>
                    <a:pt x="0" y="1143000"/>
                    <a:pt x="0" y="1084199"/>
                  </a:cubicBezTo>
                  <a:close/>
                </a:path>
              </a:pathLst>
            </a:custGeom>
            <a:solidFill>
              <a:srgbClr val="E1E1EA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9574911" y="7730881"/>
            <a:ext cx="237373" cy="189900"/>
            <a:chOff x="0" y="0"/>
            <a:chExt cx="316497" cy="253200"/>
          </a:xfrm>
        </p:grpSpPr>
        <p:sp>
          <p:nvSpPr>
            <p:cNvPr name="Freeform 52" id="52" descr="preencoded.png"/>
            <p:cNvSpPr/>
            <p:nvPr/>
          </p:nvSpPr>
          <p:spPr>
            <a:xfrm flipH="false" flipV="false" rot="0">
              <a:off x="0" y="0"/>
              <a:ext cx="316484" cy="253238"/>
            </a:xfrm>
            <a:custGeom>
              <a:avLst/>
              <a:gdLst/>
              <a:ahLst/>
              <a:cxnLst/>
              <a:rect r="r" b="b" t="t" l="l"/>
              <a:pathLst>
                <a:path h="253238" w="316484">
                  <a:moveTo>
                    <a:pt x="0" y="0"/>
                  </a:moveTo>
                  <a:lnTo>
                    <a:pt x="316484" y="0"/>
                  </a:lnTo>
                  <a:lnTo>
                    <a:pt x="316484" y="253238"/>
                  </a:lnTo>
                  <a:lnTo>
                    <a:pt x="0" y="2532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0" r="-6" b="15"/>
              </a:stretch>
            </a:blip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10002193" y="7653938"/>
            <a:ext cx="7112765" cy="574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Integration Flow:</a:t>
            </a:r>
            <a:r>
              <a:rPr lang="en-US" sz="1425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Django Application ↔ Django ORM ↔ SQL / MySQL ↔ Stored Data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385011" y="8532171"/>
            <a:ext cx="7919837" cy="842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7"/>
              </a:lnSpc>
            </a:pPr>
            <a:r>
              <a:rPr lang="en-US" sz="1425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MySQL serves as the production-grade relational database management system, with Django's ORM providing a Pythonic abstraction layer that eliminates the need for raw SQL in routine operations.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841924"/>
            <a:ext cx="16303114" cy="803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84"/>
              </a:lnSpc>
            </a:pPr>
            <a:r>
              <a:rPr lang="en-US" sz="48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Assessment &amp; Documentation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2055914"/>
            <a:ext cx="17217495" cy="482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Tracking Learning Progress Throughout the 10-Week Internship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87447" y="2812847"/>
            <a:ext cx="8037109" cy="2846937"/>
            <a:chOff x="0" y="0"/>
            <a:chExt cx="10716146" cy="37959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716260" cy="3796030"/>
            </a:xfrm>
            <a:custGeom>
              <a:avLst/>
              <a:gdLst/>
              <a:ahLst/>
              <a:cxnLst/>
              <a:rect r="r" b="b" t="t" l="l"/>
              <a:pathLst>
                <a:path h="3796030" w="10716260">
                  <a:moveTo>
                    <a:pt x="0" y="139446"/>
                  </a:moveTo>
                  <a:cubicBezTo>
                    <a:pt x="0" y="62357"/>
                    <a:pt x="62357" y="0"/>
                    <a:pt x="139446" y="0"/>
                  </a:cubicBezTo>
                  <a:lnTo>
                    <a:pt x="10576814" y="0"/>
                  </a:lnTo>
                  <a:cubicBezTo>
                    <a:pt x="10653776" y="0"/>
                    <a:pt x="10716260" y="62357"/>
                    <a:pt x="10716260" y="139446"/>
                  </a:cubicBezTo>
                  <a:lnTo>
                    <a:pt x="10716260" y="3656584"/>
                  </a:lnTo>
                  <a:cubicBezTo>
                    <a:pt x="10716260" y="3733546"/>
                    <a:pt x="10653903" y="3796030"/>
                    <a:pt x="10576814" y="3796030"/>
                  </a:cubicBezTo>
                  <a:lnTo>
                    <a:pt x="139446" y="3796030"/>
                  </a:lnTo>
                  <a:cubicBezTo>
                    <a:pt x="62357" y="3795903"/>
                    <a:pt x="0" y="3733546"/>
                    <a:pt x="0" y="3656584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49680" y="3075089"/>
            <a:ext cx="744122" cy="744141"/>
            <a:chOff x="0" y="0"/>
            <a:chExt cx="992162" cy="9921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2124" cy="992251"/>
            </a:xfrm>
            <a:custGeom>
              <a:avLst/>
              <a:gdLst/>
              <a:ahLst/>
              <a:cxnLst/>
              <a:rect r="r" b="b" t="t" l="l"/>
              <a:pathLst>
                <a:path h="992251" w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001" y="992251"/>
                    <a:pt x="496062" y="992251"/>
                  </a:cubicBezTo>
                  <a:cubicBezTo>
                    <a:pt x="222123" y="992251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12" id="12" descr="preencoded.png"/>
          <p:cNvSpPr/>
          <p:nvPr/>
        </p:nvSpPr>
        <p:spPr>
          <a:xfrm flipH="false" flipV="false" rot="0">
            <a:off x="1454315" y="3279572"/>
            <a:ext cx="334851" cy="334861"/>
          </a:xfrm>
          <a:custGeom>
            <a:avLst/>
            <a:gdLst/>
            <a:ahLst/>
            <a:cxnLst/>
            <a:rect r="r" b="b" t="t" l="l"/>
            <a:pathLst>
              <a:path h="334861" w="334851">
                <a:moveTo>
                  <a:pt x="0" y="0"/>
                </a:moveTo>
                <a:lnTo>
                  <a:pt x="334851" y="0"/>
                </a:lnTo>
                <a:lnTo>
                  <a:pt x="33485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" t="0" r="-1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249680" y="4048125"/>
            <a:ext cx="7512653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WEEKLY PRACTICAL EXERCISES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9680" y="4517974"/>
            <a:ext cx="7512653" cy="879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Weekly practical exercises and coding assignments based on the learning modules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262977" y="2812847"/>
            <a:ext cx="8037109" cy="2846937"/>
            <a:chOff x="0" y="0"/>
            <a:chExt cx="10716146" cy="37959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16260" cy="3796030"/>
            </a:xfrm>
            <a:custGeom>
              <a:avLst/>
              <a:gdLst/>
              <a:ahLst/>
              <a:cxnLst/>
              <a:rect r="r" b="b" t="t" l="l"/>
              <a:pathLst>
                <a:path h="3796030" w="10716260">
                  <a:moveTo>
                    <a:pt x="0" y="139446"/>
                  </a:moveTo>
                  <a:cubicBezTo>
                    <a:pt x="0" y="62357"/>
                    <a:pt x="62357" y="0"/>
                    <a:pt x="139446" y="0"/>
                  </a:cubicBezTo>
                  <a:lnTo>
                    <a:pt x="10576814" y="0"/>
                  </a:lnTo>
                  <a:cubicBezTo>
                    <a:pt x="10653776" y="0"/>
                    <a:pt x="10716260" y="62357"/>
                    <a:pt x="10716260" y="139446"/>
                  </a:cubicBezTo>
                  <a:lnTo>
                    <a:pt x="10716260" y="3656584"/>
                  </a:lnTo>
                  <a:cubicBezTo>
                    <a:pt x="10716260" y="3733546"/>
                    <a:pt x="10653903" y="3796030"/>
                    <a:pt x="10576814" y="3796030"/>
                  </a:cubicBezTo>
                  <a:lnTo>
                    <a:pt x="139446" y="3796030"/>
                  </a:lnTo>
                  <a:cubicBezTo>
                    <a:pt x="62357" y="3795903"/>
                    <a:pt x="0" y="3733546"/>
                    <a:pt x="0" y="3656584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9525210" y="3075089"/>
            <a:ext cx="744122" cy="744141"/>
            <a:chOff x="0" y="0"/>
            <a:chExt cx="992162" cy="99218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92124" cy="992251"/>
            </a:xfrm>
            <a:custGeom>
              <a:avLst/>
              <a:gdLst/>
              <a:ahLst/>
              <a:cxnLst/>
              <a:rect r="r" b="b" t="t" l="l"/>
              <a:pathLst>
                <a:path h="992251" w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001" y="992251"/>
                    <a:pt x="496062" y="992251"/>
                  </a:cubicBezTo>
                  <a:cubicBezTo>
                    <a:pt x="222123" y="992251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19" id="19" descr="preencoded.png"/>
          <p:cNvSpPr/>
          <p:nvPr/>
        </p:nvSpPr>
        <p:spPr>
          <a:xfrm flipH="false" flipV="false" rot="0">
            <a:off x="9729845" y="3279572"/>
            <a:ext cx="334851" cy="334861"/>
          </a:xfrm>
          <a:custGeom>
            <a:avLst/>
            <a:gdLst/>
            <a:ahLst/>
            <a:cxnLst/>
            <a:rect r="r" b="b" t="t" l="l"/>
            <a:pathLst>
              <a:path h="334861" w="334851">
                <a:moveTo>
                  <a:pt x="0" y="0"/>
                </a:moveTo>
                <a:lnTo>
                  <a:pt x="334851" y="0"/>
                </a:lnTo>
                <a:lnTo>
                  <a:pt x="33485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1388" r="0" b="-1388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9525210" y="4048125"/>
            <a:ext cx="7512653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MODULE-WISE ASSESSMENTS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525210" y="4517974"/>
            <a:ext cx="7512653" cy="879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Module-wise assessments and quizzes to evaluate conceptual understanding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87447" y="5898204"/>
            <a:ext cx="8037109" cy="2846937"/>
            <a:chOff x="0" y="0"/>
            <a:chExt cx="10716146" cy="379591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716260" cy="3796030"/>
            </a:xfrm>
            <a:custGeom>
              <a:avLst/>
              <a:gdLst/>
              <a:ahLst/>
              <a:cxnLst/>
              <a:rect r="r" b="b" t="t" l="l"/>
              <a:pathLst>
                <a:path h="3796030" w="10716260">
                  <a:moveTo>
                    <a:pt x="0" y="139446"/>
                  </a:moveTo>
                  <a:cubicBezTo>
                    <a:pt x="0" y="62357"/>
                    <a:pt x="62357" y="0"/>
                    <a:pt x="139446" y="0"/>
                  </a:cubicBezTo>
                  <a:lnTo>
                    <a:pt x="10576814" y="0"/>
                  </a:lnTo>
                  <a:cubicBezTo>
                    <a:pt x="10653776" y="0"/>
                    <a:pt x="10716260" y="62357"/>
                    <a:pt x="10716260" y="139446"/>
                  </a:cubicBezTo>
                  <a:lnTo>
                    <a:pt x="10716260" y="3656584"/>
                  </a:lnTo>
                  <a:cubicBezTo>
                    <a:pt x="10716260" y="3733546"/>
                    <a:pt x="10653903" y="3796030"/>
                    <a:pt x="10576814" y="3796030"/>
                  </a:cubicBezTo>
                  <a:lnTo>
                    <a:pt x="139446" y="3796030"/>
                  </a:lnTo>
                  <a:cubicBezTo>
                    <a:pt x="62357" y="3795903"/>
                    <a:pt x="0" y="3733546"/>
                    <a:pt x="0" y="3656584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249680" y="6160446"/>
            <a:ext cx="744122" cy="744141"/>
            <a:chOff x="0" y="0"/>
            <a:chExt cx="992162" cy="99218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92124" cy="992251"/>
            </a:xfrm>
            <a:custGeom>
              <a:avLst/>
              <a:gdLst/>
              <a:ahLst/>
              <a:cxnLst/>
              <a:rect r="r" b="b" t="t" l="l"/>
              <a:pathLst>
                <a:path h="992251" w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001" y="992251"/>
                    <a:pt x="496062" y="992251"/>
                  </a:cubicBezTo>
                  <a:cubicBezTo>
                    <a:pt x="222123" y="992251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26" id="26" descr="preencoded.png"/>
          <p:cNvSpPr/>
          <p:nvPr/>
        </p:nvSpPr>
        <p:spPr>
          <a:xfrm flipH="false" flipV="false" rot="0">
            <a:off x="1454315" y="6364929"/>
            <a:ext cx="334851" cy="334861"/>
          </a:xfrm>
          <a:custGeom>
            <a:avLst/>
            <a:gdLst/>
            <a:ahLst/>
            <a:cxnLst/>
            <a:rect r="r" b="b" t="t" l="l"/>
            <a:pathLst>
              <a:path h="334861" w="334851">
                <a:moveTo>
                  <a:pt x="0" y="0"/>
                </a:moveTo>
                <a:lnTo>
                  <a:pt x="334851" y="0"/>
                </a:lnTo>
                <a:lnTo>
                  <a:pt x="33485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9722" t="0" r="-9725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249680" y="7133482"/>
            <a:ext cx="7512653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PROJECT DOCUMENTATION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49680" y="7603331"/>
            <a:ext cx="7512653" cy="879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Project-related documentation where required, maintaining relevant learning and development records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262977" y="5898204"/>
            <a:ext cx="8037109" cy="2846937"/>
            <a:chOff x="0" y="0"/>
            <a:chExt cx="10716146" cy="379591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716260" cy="3796030"/>
            </a:xfrm>
            <a:custGeom>
              <a:avLst/>
              <a:gdLst/>
              <a:ahLst/>
              <a:cxnLst/>
              <a:rect r="r" b="b" t="t" l="l"/>
              <a:pathLst>
                <a:path h="3796030" w="10716260">
                  <a:moveTo>
                    <a:pt x="0" y="139446"/>
                  </a:moveTo>
                  <a:cubicBezTo>
                    <a:pt x="0" y="62357"/>
                    <a:pt x="62357" y="0"/>
                    <a:pt x="139446" y="0"/>
                  </a:cubicBezTo>
                  <a:lnTo>
                    <a:pt x="10576814" y="0"/>
                  </a:lnTo>
                  <a:cubicBezTo>
                    <a:pt x="10653776" y="0"/>
                    <a:pt x="10716260" y="62357"/>
                    <a:pt x="10716260" y="139446"/>
                  </a:cubicBezTo>
                  <a:lnTo>
                    <a:pt x="10716260" y="3656584"/>
                  </a:lnTo>
                  <a:cubicBezTo>
                    <a:pt x="10716260" y="3733546"/>
                    <a:pt x="10653903" y="3796030"/>
                    <a:pt x="10576814" y="3796030"/>
                  </a:cubicBezTo>
                  <a:lnTo>
                    <a:pt x="139446" y="3796030"/>
                  </a:lnTo>
                  <a:cubicBezTo>
                    <a:pt x="62357" y="3795903"/>
                    <a:pt x="0" y="3733546"/>
                    <a:pt x="0" y="3656584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9525210" y="6160446"/>
            <a:ext cx="744122" cy="744141"/>
            <a:chOff x="0" y="0"/>
            <a:chExt cx="992162" cy="99218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92124" cy="992251"/>
            </a:xfrm>
            <a:custGeom>
              <a:avLst/>
              <a:gdLst/>
              <a:ahLst/>
              <a:cxnLst/>
              <a:rect r="r" b="b" t="t" l="l"/>
              <a:pathLst>
                <a:path h="992251" w="992124">
                  <a:moveTo>
                    <a:pt x="0" y="496062"/>
                  </a:moveTo>
                  <a:cubicBezTo>
                    <a:pt x="0" y="222123"/>
                    <a:pt x="222123" y="0"/>
                    <a:pt x="496062" y="0"/>
                  </a:cubicBezTo>
                  <a:cubicBezTo>
                    <a:pt x="770001" y="0"/>
                    <a:pt x="992124" y="222123"/>
                    <a:pt x="992124" y="496062"/>
                  </a:cubicBezTo>
                  <a:cubicBezTo>
                    <a:pt x="992124" y="770001"/>
                    <a:pt x="770001" y="992251"/>
                    <a:pt x="496062" y="992251"/>
                  </a:cubicBezTo>
                  <a:cubicBezTo>
                    <a:pt x="222123" y="992251"/>
                    <a:pt x="0" y="770128"/>
                    <a:pt x="0" y="496062"/>
                  </a:cubicBezTo>
                  <a:close/>
                </a:path>
              </a:pathLst>
            </a:custGeom>
            <a:solidFill>
              <a:srgbClr val="1B1B27"/>
            </a:solidFill>
          </p:spPr>
        </p:sp>
      </p:grpSp>
      <p:sp>
        <p:nvSpPr>
          <p:cNvPr name="Freeform 33" id="33" descr="preencoded.png"/>
          <p:cNvSpPr/>
          <p:nvPr/>
        </p:nvSpPr>
        <p:spPr>
          <a:xfrm flipH="false" flipV="false" rot="0">
            <a:off x="9729845" y="6364929"/>
            <a:ext cx="334851" cy="334861"/>
          </a:xfrm>
          <a:custGeom>
            <a:avLst/>
            <a:gdLst/>
            <a:ahLst/>
            <a:cxnLst/>
            <a:rect r="r" b="b" t="t" l="l"/>
            <a:pathLst>
              <a:path h="334861" w="334851">
                <a:moveTo>
                  <a:pt x="0" y="0"/>
                </a:moveTo>
                <a:lnTo>
                  <a:pt x="334851" y="0"/>
                </a:lnTo>
                <a:lnTo>
                  <a:pt x="334851" y="334861"/>
                </a:lnTo>
                <a:lnTo>
                  <a:pt x="0" y="33486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1" t="0" r="-1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9525210" y="7133482"/>
            <a:ext cx="7512653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FINAL ASSESSMENT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525210" y="7603331"/>
            <a:ext cx="7512653" cy="879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Final assessment in Week 10, evaluation of overall internship learning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92210" y="8933707"/>
            <a:ext cx="17217495" cy="482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Assessment and documentation supported progressive learning throughout the Python Full Stack Development curriculum.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2068563"/>
            <a:ext cx="16303114" cy="803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84"/>
              </a:lnSpc>
            </a:pPr>
            <a:r>
              <a:rPr lang="en-US" sz="48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Git &amp; Version Control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3473206"/>
            <a:ext cx="7849000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Key Concepts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2210" y="4042172"/>
            <a:ext cx="7849000" cy="3384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2901" indent="-176451" lvl="1">
              <a:lnSpc>
                <a:spcPts val="3112"/>
              </a:lnSpc>
              <a:buFont typeface="Arial"/>
              <a:buChar char="•"/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Repository management</a:t>
            </a:r>
          </a:p>
          <a:p>
            <a:pPr algn="l" marL="352901" indent="-176451" lvl="1">
              <a:lnSpc>
                <a:spcPts val="3112"/>
              </a:lnSpc>
              <a:buFont typeface="Arial"/>
              <a:buChar char="•"/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Commits and change tracking</a:t>
            </a:r>
          </a:p>
          <a:p>
            <a:pPr algn="l" marL="352901" indent="-176451" lvl="1">
              <a:lnSpc>
                <a:spcPts val="3112"/>
              </a:lnSpc>
              <a:buFont typeface="Arial"/>
              <a:buChar char="•"/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Branching</a:t>
            </a:r>
          </a:p>
          <a:p>
            <a:pPr algn="l" marL="352901" indent="-176451" lvl="1">
              <a:lnSpc>
                <a:spcPts val="3112"/>
              </a:lnSpc>
              <a:buFont typeface="Arial"/>
              <a:buChar char="•"/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Merging</a:t>
            </a:r>
          </a:p>
          <a:p>
            <a:pPr algn="l" marL="352901" indent="-176451" lvl="1">
              <a:lnSpc>
                <a:spcPts val="3112"/>
              </a:lnSpc>
              <a:buFont typeface="Arial"/>
              <a:buChar char="•"/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Version history</a:t>
            </a:r>
          </a:p>
          <a:p>
            <a:pPr algn="l" marL="352901" indent="-176451" lvl="1">
              <a:lnSpc>
                <a:spcPts val="3112"/>
              </a:lnSpc>
              <a:buFont typeface="Arial"/>
              <a:buChar char="•"/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Collaboration workflows</a:t>
            </a:r>
          </a:p>
          <a:p>
            <a:pPr algn="l" marL="352901" indent="-176451" lvl="1">
              <a:lnSpc>
                <a:spcPts val="3112"/>
              </a:lnSpc>
              <a:buFont typeface="Arial"/>
              <a:buChar char="•"/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GitHub integration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455858" y="3473206"/>
            <a:ext cx="7849000" cy="40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5"/>
              </a:lnSpc>
            </a:pPr>
            <a:r>
              <a:rPr lang="en-US" sz="24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Git Workflow Diagram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455858" y="4159006"/>
            <a:ext cx="7849000" cy="2945311"/>
            <a:chOff x="0" y="0"/>
            <a:chExt cx="10465333" cy="3927081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465308" cy="3927094"/>
            </a:xfrm>
            <a:custGeom>
              <a:avLst/>
              <a:gdLst/>
              <a:ahLst/>
              <a:cxnLst/>
              <a:rect r="r" b="b" t="t" l="l"/>
              <a:pathLst>
                <a:path h="3927094" w="10465308">
                  <a:moveTo>
                    <a:pt x="0" y="0"/>
                  </a:moveTo>
                  <a:lnTo>
                    <a:pt x="10465308" y="0"/>
                  </a:lnTo>
                  <a:lnTo>
                    <a:pt x="10465308" y="3927094"/>
                  </a:lnTo>
                  <a:lnTo>
                    <a:pt x="0" y="39270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68" r="0" b="-67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5797717" y="6379788"/>
            <a:ext cx="1183834" cy="237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8"/>
              </a:lnSpc>
            </a:pPr>
            <a:r>
              <a:rPr lang="en-US" sz="14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Git Repository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305759" y="6379788"/>
            <a:ext cx="1183834" cy="237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8"/>
              </a:lnSpc>
            </a:pPr>
            <a:r>
              <a:rPr lang="en-US" sz="14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git commit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821907" y="6379788"/>
            <a:ext cx="1183834" cy="237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8"/>
              </a:lnSpc>
            </a:pPr>
            <a:r>
              <a:rPr lang="en-US" sz="14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Staging Area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338065" y="6379788"/>
            <a:ext cx="1183834" cy="237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8"/>
              </a:lnSpc>
            </a:pPr>
            <a:r>
              <a:rPr lang="en-US" sz="14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git add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821780" y="6265755"/>
            <a:ext cx="1183834" cy="465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8"/>
              </a:lnSpc>
            </a:pPr>
            <a:r>
              <a:rPr lang="en-US" sz="14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Working Directory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92210" y="7707068"/>
            <a:ext cx="17217495" cy="482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19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Git enables developers to track code changes, maintain version history and collaborate efficiently.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818255"/>
            <a:ext cx="16303114" cy="777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03"/>
              </a:lnSpc>
            </a:pPr>
            <a:r>
              <a:rPr lang="en-US" sz="46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10-Week Learning Journey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1666275"/>
            <a:ext cx="16303114" cy="462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3"/>
              </a:lnSpc>
            </a:pPr>
            <a:r>
              <a:rPr lang="en-US" sz="27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Structured Python Full Stack Development Curriculum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92210" y="5763816"/>
            <a:ext cx="16303114" cy="28575"/>
            <a:chOff x="0" y="0"/>
            <a:chExt cx="21737485" cy="38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737447" cy="38100"/>
            </a:xfrm>
            <a:custGeom>
              <a:avLst/>
              <a:gdLst/>
              <a:ahLst/>
              <a:cxnLst/>
              <a:rect r="r" b="b" t="t" l="l"/>
              <a:pathLst>
                <a:path h="38100" w="21737447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21718397" y="0"/>
                  </a:lnTo>
                  <a:cubicBezTo>
                    <a:pt x="21728937" y="0"/>
                    <a:pt x="21737447" y="8509"/>
                    <a:pt x="21737447" y="19050"/>
                  </a:cubicBezTo>
                  <a:cubicBezTo>
                    <a:pt x="21737447" y="29591"/>
                    <a:pt x="21728937" y="38100"/>
                    <a:pt x="21718397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344731" y="5054498"/>
            <a:ext cx="28575" cy="709317"/>
            <a:chOff x="0" y="0"/>
            <a:chExt cx="38100" cy="9457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088309" y="5493096"/>
            <a:ext cx="541420" cy="541439"/>
            <a:chOff x="0" y="0"/>
            <a:chExt cx="721893" cy="72191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2181692" y="5542131"/>
            <a:ext cx="354644" cy="443360"/>
            <a:chOff x="0" y="0"/>
            <a:chExt cx="472859" cy="59114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1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28544" y="2437952"/>
            <a:ext cx="2261092" cy="397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1: HTML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28544" y="2894857"/>
            <a:ext cx="2261092" cy="1553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Page structure, elements, forms, tables and semantic tags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3852472" y="5763816"/>
            <a:ext cx="28575" cy="709317"/>
            <a:chOff x="0" y="0"/>
            <a:chExt cx="38100" cy="9457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3596040" y="5493096"/>
            <a:ext cx="541420" cy="541439"/>
            <a:chOff x="0" y="0"/>
            <a:chExt cx="721893" cy="72191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3689433" y="5542131"/>
            <a:ext cx="354644" cy="443360"/>
            <a:chOff x="0" y="0"/>
            <a:chExt cx="472859" cy="591147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2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2736132" y="6681045"/>
            <a:ext cx="2261235" cy="3979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2: CSS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736132" y="7137949"/>
            <a:ext cx="2261235" cy="1553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Selectors, box model, positioning, Flexbox, Grid and responsive styling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5360060" y="5054498"/>
            <a:ext cx="28575" cy="709317"/>
            <a:chOff x="0" y="0"/>
            <a:chExt cx="38100" cy="94575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5103638" y="5493096"/>
            <a:ext cx="541420" cy="541439"/>
            <a:chOff x="0" y="0"/>
            <a:chExt cx="721893" cy="72191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197021" y="5542131"/>
            <a:ext cx="354644" cy="443360"/>
            <a:chOff x="0" y="0"/>
            <a:chExt cx="472859" cy="59114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3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4243873" y="2437952"/>
            <a:ext cx="2261092" cy="767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3: BOOTSTRAP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4243873" y="3264246"/>
            <a:ext cx="2261092" cy="1184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Responsive and mobile-first web design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867801" y="5763816"/>
            <a:ext cx="28575" cy="709317"/>
            <a:chOff x="0" y="0"/>
            <a:chExt cx="38100" cy="9457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6611379" y="5493096"/>
            <a:ext cx="541420" cy="541439"/>
            <a:chOff x="0" y="0"/>
            <a:chExt cx="721893" cy="72191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6704762" y="5542131"/>
            <a:ext cx="354644" cy="443360"/>
            <a:chOff x="0" y="0"/>
            <a:chExt cx="472859" cy="591147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4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5751614" y="6681045"/>
            <a:ext cx="2261092" cy="767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4: JAVASCRIPT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751614" y="7507338"/>
            <a:ext cx="2261092" cy="1553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Programming fundamentals, DOM manipulation and event handling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8375542" y="5054498"/>
            <a:ext cx="28575" cy="709317"/>
            <a:chOff x="0" y="0"/>
            <a:chExt cx="38100" cy="94575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8119110" y="5493096"/>
            <a:ext cx="541420" cy="541439"/>
            <a:chOff x="0" y="0"/>
            <a:chExt cx="721893" cy="721919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8212503" y="5542131"/>
            <a:ext cx="354644" cy="443360"/>
            <a:chOff x="0" y="0"/>
            <a:chExt cx="472859" cy="591147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5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7259212" y="2437952"/>
            <a:ext cx="2261235" cy="767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5: JQUERY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259212" y="3264246"/>
            <a:ext cx="2261235" cy="1184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DOM traversal, animations, event handling and AJAX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9883283" y="5763816"/>
            <a:ext cx="28575" cy="709317"/>
            <a:chOff x="0" y="0"/>
            <a:chExt cx="38100" cy="9457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9626851" y="5493096"/>
            <a:ext cx="541420" cy="541439"/>
            <a:chOff x="0" y="0"/>
            <a:chExt cx="721893" cy="72191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9720243" y="5542131"/>
            <a:ext cx="354644" cy="443360"/>
            <a:chOff x="0" y="0"/>
            <a:chExt cx="472859" cy="591147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6</a:t>
              </a: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8766943" y="6681045"/>
            <a:ext cx="2261235" cy="113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6: PYTHON PROGRAMMING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8766943" y="7876727"/>
            <a:ext cx="2261235" cy="1184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Syntax, data types, loops, functions and OOP concepts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11390871" y="5054498"/>
            <a:ext cx="28575" cy="709317"/>
            <a:chOff x="0" y="0"/>
            <a:chExt cx="38100" cy="94575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11134449" y="5493096"/>
            <a:ext cx="541420" cy="541439"/>
            <a:chOff x="0" y="0"/>
            <a:chExt cx="721893" cy="721919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1227832" y="5542131"/>
            <a:ext cx="354644" cy="443360"/>
            <a:chOff x="0" y="0"/>
            <a:chExt cx="472859" cy="591147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7</a:t>
              </a:r>
            </a:p>
          </p:txBody>
        </p:sp>
      </p:grpSp>
      <p:sp>
        <p:nvSpPr>
          <p:cNvPr name="TextBox 71" id="71"/>
          <p:cNvSpPr txBox="true"/>
          <p:nvPr/>
        </p:nvSpPr>
        <p:spPr>
          <a:xfrm rot="0">
            <a:off x="10274684" y="2437952"/>
            <a:ext cx="2261092" cy="113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7: DJANGO FRAMEWORK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0274684" y="3633635"/>
            <a:ext cx="2261092" cy="1184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Models, views, templates, routing and authentication</a:t>
            </a:r>
          </a:p>
        </p:txBody>
      </p:sp>
      <p:grpSp>
        <p:nvGrpSpPr>
          <p:cNvPr name="Group 73" id="73"/>
          <p:cNvGrpSpPr/>
          <p:nvPr/>
        </p:nvGrpSpPr>
        <p:grpSpPr>
          <a:xfrm rot="0">
            <a:off x="12898612" y="5763816"/>
            <a:ext cx="28575" cy="709317"/>
            <a:chOff x="0" y="0"/>
            <a:chExt cx="38100" cy="94575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12642190" y="5493096"/>
            <a:ext cx="541420" cy="541439"/>
            <a:chOff x="0" y="0"/>
            <a:chExt cx="721893" cy="721919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12735573" y="5542131"/>
            <a:ext cx="354644" cy="443360"/>
            <a:chOff x="0" y="0"/>
            <a:chExt cx="472859" cy="591147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8</a:t>
              </a:r>
            </a:p>
          </p:txBody>
        </p:sp>
      </p:grpSp>
      <p:sp>
        <p:nvSpPr>
          <p:cNvPr name="TextBox 80" id="80"/>
          <p:cNvSpPr txBox="true"/>
          <p:nvPr/>
        </p:nvSpPr>
        <p:spPr>
          <a:xfrm rot="0">
            <a:off x="11782425" y="6681045"/>
            <a:ext cx="2261092" cy="113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8: MYSQL &amp; DATABASE MANAGEMENT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1782425" y="8246116"/>
            <a:ext cx="2261092" cy="1374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SQL, database design, CRUD operations and Django integration</a:t>
            </a:r>
          </a:p>
        </p:txBody>
      </p:sp>
      <p:grpSp>
        <p:nvGrpSpPr>
          <p:cNvPr name="Group 82" id="82"/>
          <p:cNvGrpSpPr/>
          <p:nvPr/>
        </p:nvGrpSpPr>
        <p:grpSpPr>
          <a:xfrm rot="0">
            <a:off x="14406353" y="5054498"/>
            <a:ext cx="28575" cy="709317"/>
            <a:chOff x="0" y="0"/>
            <a:chExt cx="38100" cy="94575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84" id="84"/>
          <p:cNvGrpSpPr/>
          <p:nvPr/>
        </p:nvGrpSpPr>
        <p:grpSpPr>
          <a:xfrm rot="0">
            <a:off x="14149930" y="5493096"/>
            <a:ext cx="541420" cy="541439"/>
            <a:chOff x="0" y="0"/>
            <a:chExt cx="721893" cy="721919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86" id="86"/>
          <p:cNvGrpSpPr/>
          <p:nvPr/>
        </p:nvGrpSpPr>
        <p:grpSpPr>
          <a:xfrm rot="0">
            <a:off x="14243314" y="5542131"/>
            <a:ext cx="354644" cy="443360"/>
            <a:chOff x="0" y="0"/>
            <a:chExt cx="472859" cy="591147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9</a:t>
              </a:r>
            </a:p>
          </p:txBody>
        </p:sp>
      </p:grpSp>
      <p:sp>
        <p:nvSpPr>
          <p:cNvPr name="TextBox 89" id="89"/>
          <p:cNvSpPr txBox="true"/>
          <p:nvPr/>
        </p:nvSpPr>
        <p:spPr>
          <a:xfrm rot="0">
            <a:off x="13290023" y="2437952"/>
            <a:ext cx="2261235" cy="113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9: GIT &amp; VERSION CONTROL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3290023" y="3633635"/>
            <a:ext cx="2261235" cy="1184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Repositories, commits, branching, merging and GitHub</a:t>
            </a:r>
          </a:p>
        </p:txBody>
      </p:sp>
      <p:grpSp>
        <p:nvGrpSpPr>
          <p:cNvPr name="Group 91" id="91"/>
          <p:cNvGrpSpPr/>
          <p:nvPr/>
        </p:nvGrpSpPr>
        <p:grpSpPr>
          <a:xfrm rot="0">
            <a:off x="15914094" y="5763816"/>
            <a:ext cx="28575" cy="709317"/>
            <a:chOff x="0" y="0"/>
            <a:chExt cx="38100" cy="945756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8100" cy="945769"/>
            </a:xfrm>
            <a:custGeom>
              <a:avLst/>
              <a:gdLst/>
              <a:ahLst/>
              <a:cxnLst/>
              <a:rect r="r" b="b" t="t" l="l"/>
              <a:pathLst>
                <a:path h="945769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926719"/>
                  </a:lnTo>
                  <a:cubicBezTo>
                    <a:pt x="38100" y="937260"/>
                    <a:pt x="29591" y="945769"/>
                    <a:pt x="19050" y="945769"/>
                  </a:cubicBezTo>
                  <a:cubicBezTo>
                    <a:pt x="8509" y="945769"/>
                    <a:pt x="0" y="937260"/>
                    <a:pt x="0" y="926719"/>
                  </a:cubicBezTo>
                  <a:close/>
                </a:path>
              </a:pathLst>
            </a:custGeom>
            <a:solidFill>
              <a:srgbClr val="C7C7D0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15657662" y="5493096"/>
            <a:ext cx="541420" cy="541439"/>
            <a:chOff x="0" y="0"/>
            <a:chExt cx="721893" cy="721919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721868" cy="721868"/>
            </a:xfrm>
            <a:custGeom>
              <a:avLst/>
              <a:gdLst/>
              <a:ahLst/>
              <a:cxnLst/>
              <a:rect r="r" b="b" t="t" l="l"/>
              <a:pathLst>
                <a:path h="721868" w="721868">
                  <a:moveTo>
                    <a:pt x="0" y="134747"/>
                  </a:moveTo>
                  <a:cubicBezTo>
                    <a:pt x="0" y="60325"/>
                    <a:pt x="60325" y="0"/>
                    <a:pt x="134747" y="0"/>
                  </a:cubicBezTo>
                  <a:lnTo>
                    <a:pt x="587121" y="0"/>
                  </a:lnTo>
                  <a:cubicBezTo>
                    <a:pt x="661543" y="0"/>
                    <a:pt x="721868" y="60325"/>
                    <a:pt x="721868" y="134747"/>
                  </a:cubicBezTo>
                  <a:lnTo>
                    <a:pt x="721868" y="587121"/>
                  </a:lnTo>
                  <a:cubicBezTo>
                    <a:pt x="721868" y="661543"/>
                    <a:pt x="661543" y="721868"/>
                    <a:pt x="587121" y="721868"/>
                  </a:cubicBezTo>
                  <a:lnTo>
                    <a:pt x="134747" y="721868"/>
                  </a:lnTo>
                  <a:cubicBezTo>
                    <a:pt x="60325" y="721868"/>
                    <a:pt x="0" y="661543"/>
                    <a:pt x="0" y="587121"/>
                  </a:cubicBezTo>
                  <a:close/>
                </a:path>
              </a:pathLst>
            </a:custGeom>
            <a:solidFill>
              <a:srgbClr val="E1E1EA"/>
            </a:solidFill>
            <a:ln w="9525" cap="sq">
              <a:solidFill>
                <a:srgbClr val="C7C7D0"/>
              </a:solidFill>
              <a:prstDash val="solid"/>
              <a:miter/>
            </a:ln>
          </p:spPr>
        </p:sp>
      </p:grpSp>
      <p:grpSp>
        <p:nvGrpSpPr>
          <p:cNvPr name="Group 95" id="95"/>
          <p:cNvGrpSpPr/>
          <p:nvPr/>
        </p:nvGrpSpPr>
        <p:grpSpPr>
          <a:xfrm rot="0">
            <a:off x="15751054" y="5542131"/>
            <a:ext cx="354644" cy="443360"/>
            <a:chOff x="0" y="0"/>
            <a:chExt cx="472859" cy="591147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2864" cy="591146"/>
            </a:xfrm>
            <a:custGeom>
              <a:avLst/>
              <a:gdLst/>
              <a:ahLst/>
              <a:cxnLst/>
              <a:rect r="r" b="b" t="t" l="l"/>
              <a:pathLst>
                <a:path h="591146" w="472864">
                  <a:moveTo>
                    <a:pt x="0" y="0"/>
                  </a:moveTo>
                  <a:lnTo>
                    <a:pt x="472864" y="0"/>
                  </a:lnTo>
                  <a:lnTo>
                    <a:pt x="472864" y="591146"/>
                  </a:lnTo>
                  <a:lnTo>
                    <a:pt x="0" y="591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398" t="0" r="-110397" b="0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9525"/>
              <a:ext cx="472859" cy="600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29"/>
                </a:lnSpc>
              </a:pPr>
              <a:r>
                <a:rPr lang="en-US" sz="2775">
                  <a:solidFill>
                    <a:srgbClr val="3C3939"/>
                  </a:solidFill>
                  <a:latin typeface="Raleway"/>
                  <a:ea typeface="Raleway"/>
                  <a:cs typeface="Raleway"/>
                  <a:sym typeface="Raleway"/>
                </a:rPr>
                <a:t>10</a:t>
              </a:r>
            </a:p>
          </p:txBody>
        </p:sp>
      </p:grpSp>
      <p:sp>
        <p:nvSpPr>
          <p:cNvPr name="TextBox 98" id="98"/>
          <p:cNvSpPr txBox="true"/>
          <p:nvPr/>
        </p:nvSpPr>
        <p:spPr>
          <a:xfrm rot="0">
            <a:off x="14797764" y="6681045"/>
            <a:ext cx="2261235" cy="767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01"/>
              </a:lnSpc>
            </a:pPr>
            <a:r>
              <a:rPr lang="en-US" sz="2325">
                <a:solidFill>
                  <a:srgbClr val="3C3939"/>
                </a:solidFill>
                <a:latin typeface="Raleway"/>
                <a:ea typeface="Raleway"/>
                <a:cs typeface="Raleway"/>
                <a:sym typeface="Raleway"/>
              </a:rPr>
              <a:t>WEEK 10: FINAL ASSESSMENT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4797764" y="7507338"/>
            <a:ext cx="2261235" cy="814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8"/>
              </a:lnSpc>
            </a:pPr>
            <a:r>
              <a:rPr lang="en-US" sz="180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Final internship assessment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701573"/>
            <a:ext cx="16303114" cy="706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41"/>
              </a:lnSpc>
            </a:pPr>
            <a:r>
              <a:rPr lang="en-US" sz="42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Learning Outcomes &amp; Future Scope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210" y="1854698"/>
            <a:ext cx="5025209" cy="435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2"/>
              </a:lnSpc>
            </a:pPr>
            <a:r>
              <a:rPr lang="en-US" sz="25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Learning Outcomes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2210" y="2337645"/>
            <a:ext cx="5025209" cy="367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Frontend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10" y="2847527"/>
            <a:ext cx="5025209" cy="1941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HTML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CSS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Bootstrap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JavaScript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jQuery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210" y="4950171"/>
            <a:ext cx="5025209" cy="367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Backend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2210" y="5460054"/>
            <a:ext cx="5025209" cy="765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Python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Django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2210" y="6386665"/>
            <a:ext cx="5025209" cy="367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Database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210" y="6896548"/>
            <a:ext cx="5025209" cy="11572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SQL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MySQL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CRUD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2210" y="8215160"/>
            <a:ext cx="5025209" cy="367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Version Control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2210" y="8725052"/>
            <a:ext cx="5025209" cy="765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Git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GitHub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556458" y="1854698"/>
            <a:ext cx="5193525" cy="435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2"/>
              </a:lnSpc>
            </a:pPr>
            <a:r>
              <a:rPr lang="en-US" sz="25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Conclusion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556458" y="2432599"/>
            <a:ext cx="5193525" cy="3702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Strengthened web development fundamentals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Developed knowledge of responsive frontend development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Improved Python programming fundamentals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Understood Django-based web application development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Learned SQL/MySQL database concepts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Understood Git and version-control practices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Developed an overall understanding of the full-stack development workflow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289022" y="1854698"/>
            <a:ext cx="5025209" cy="435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2"/>
              </a:lnSpc>
            </a:pPr>
            <a:r>
              <a:rPr lang="en-US" sz="2550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Future Scope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289022" y="2432599"/>
            <a:ext cx="5939580" cy="373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Future learning areas: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289022" y="2929090"/>
            <a:ext cx="5025209" cy="3117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Advanced Django development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Django REST Framework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REST API development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Advanced database management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Cloud deployment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Docker and DevOps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Software testing and debugging</a:t>
            </a:r>
          </a:p>
          <a:p>
            <a:pPr algn="l" marL="298609" indent="-149304" lvl="1">
              <a:lnSpc>
                <a:spcPts val="2475"/>
              </a:lnSpc>
              <a:buFont typeface="Arial"/>
              <a:buChar char="•"/>
            </a:pPr>
            <a:r>
              <a:rPr lang="en-US" sz="1650">
                <a:solidFill>
                  <a:srgbClr val="3C3939"/>
                </a:solidFill>
                <a:latin typeface="Roboto"/>
                <a:ea typeface="Roboto"/>
                <a:cs typeface="Roboto"/>
                <a:sym typeface="Roboto"/>
              </a:rPr>
              <a:t>AI/ML integration with Python web applications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CECF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90196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210" y="718690"/>
            <a:ext cx="16303114" cy="755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9"/>
              </a:lnSpc>
            </a:pPr>
            <a:r>
              <a:rPr lang="en-US" sz="4575">
                <a:solidFill>
                  <a:srgbClr val="1B1B27"/>
                </a:solidFill>
                <a:latin typeface="Raleway"/>
                <a:ea typeface="Raleway"/>
                <a:cs typeface="Raleway"/>
                <a:sym typeface="Raleway"/>
              </a:rPr>
              <a:t>Internship Completion Certificate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409420" y="1800968"/>
            <a:ext cx="5468550" cy="7738615"/>
            <a:chOff x="0" y="0"/>
            <a:chExt cx="7291400" cy="10318153"/>
          </a:xfrm>
        </p:grpSpPr>
        <p:sp>
          <p:nvSpPr>
            <p:cNvPr name="Freeform 8" id="8" descr="preencoded.png"/>
            <p:cNvSpPr/>
            <p:nvPr/>
          </p:nvSpPr>
          <p:spPr>
            <a:xfrm flipH="false" flipV="false" rot="0">
              <a:off x="0" y="0"/>
              <a:ext cx="7291451" cy="10318115"/>
            </a:xfrm>
            <a:custGeom>
              <a:avLst/>
              <a:gdLst/>
              <a:ahLst/>
              <a:cxnLst/>
              <a:rect r="r" b="b" t="t" l="l"/>
              <a:pathLst>
                <a:path h="10318115" w="7291451">
                  <a:moveTo>
                    <a:pt x="0" y="0"/>
                  </a:moveTo>
                  <a:lnTo>
                    <a:pt x="7291451" y="0"/>
                  </a:lnTo>
                  <a:lnTo>
                    <a:pt x="7291451" y="10318115"/>
                  </a:lnTo>
                  <a:lnTo>
                    <a:pt x="0" y="103181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42" t="0" r="-41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DAHU5ASUkuk</dc:identifier>
  <dcterms:modified xsi:type="dcterms:W3CDTF">2011-08-01T06:04:30Z</dcterms:modified>
  <cp:revision>1</cp:revision>
  <dc:title>Python-Full-Stack-Development_PPT.pptx</dc:title>
</cp:coreProperties>
</file>